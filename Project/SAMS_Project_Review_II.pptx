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7A1C2A"/>
          </a:solidFill>
          <a:ln/>
        </p:spPr>
      </p:sp>
      <p:sp>
        <p:nvSpPr>
          <p:cNvPr id="5" name="Shape 2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2B2A2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– II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463040"/>
            <a:ext cx="8961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Attendance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03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A. Siddhartha Varma  –  2520090119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P. Gowtham Varma  –  2520090202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617720"/>
            <a:ext cx="4937760" cy="0"/>
          </a:xfrm>
          <a:prstGeom prst="line">
            <a:avLst/>
          </a:prstGeom>
          <a:noFill/>
          <a:ln w="12700">
            <a:solidFill>
              <a:srgbClr val="3A393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[Guide Name]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2026–2027  ·  Sec 13 / Team 21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in six sentences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15544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108960" y="1554480"/>
            <a:ext cx="8412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18688" y="15544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polyglot microservices platform that automates attendance tracking across lecture, tutorial, practical and skill sessions.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40080" y="2121408"/>
            <a:ext cx="2468880" cy="56692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1214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108960" y="2121408"/>
            <a:ext cx="8412480" cy="56692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18688" y="21214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register-based attendance is slow, error-prone, and gives students no real-time visibility into their standing.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40080" y="2688336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268833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3108960" y="2688336"/>
            <a:ext cx="8412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18688" y="2688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FastAPI attendance service on a normalised PostgreSQL core, MongoDB event logs, and an optional pgvector face-embedding check-in mode.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640080" y="3255264"/>
            <a:ext cx="2468880" cy="56692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" y="32552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/ algorithms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3108960" y="3255264"/>
            <a:ext cx="8412480" cy="56692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18688" y="32552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LTPS-weighted scoring, HNSW approximate nearest-neighbour search, JWT + RBAC, Saga-based compensation.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640080" y="3822192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" y="38221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3108960" y="3822192"/>
            <a:ext cx="8412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218688" y="38221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dashboard and the relational + document schema are implemented against mock data; service-layer integration is in progress.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640080" y="4389120"/>
            <a:ext cx="2468880" cy="56692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9808" y="43891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3108960" y="4389120"/>
            <a:ext cx="8412480" cy="56692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218688" y="43891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auditable, real-time attendance platform that applies the university's 75/85% policy automatically.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640080" y="55321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1B1B1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14400" y="57150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914400" y="6035040"/>
            <a:ext cx="10332720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Automation · Microservices · PostgreSQL · MongoDB · pgvector · LTPS Scoring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current process breaks down at scale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77393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16642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problem: attendance is marked manually per class, on paper or in disconnected spreadsheets, across dozens of sections.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45973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23500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parties: faculty carry the marking overhead; students face disputed or lost records; administration has no real-time visibility.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14553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0358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attendance directly gates exam eligibility under the 75/85% policy — a marking error has real academic consequences.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83133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3721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the current approach: no live dashboard, siloed per-faculty registers, and no early warning for at-risk students.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451713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44074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problem definition: build a service-oriented system that marks, stores, and surfaces attendance in real time, with policy-aware analytics available to every student.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project, and why now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1810512"/>
            <a:ext cx="512064" cy="512064"/>
          </a:xfrm>
          <a:prstGeom prst="ellipse">
            <a:avLst/>
          </a:prstGeom>
          <a:solidFill>
            <a:srgbClr val="F7E4E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1248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39572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724912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experienced the gaps in current attendance tooling first-hand and wanted hands-on practice with polyglot, microservice-based backend engineering.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25112" y="164592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6280" y="1810512"/>
            <a:ext cx="512064" cy="512064"/>
          </a:xfrm>
          <a:prstGeom prst="ellipse">
            <a:avLst/>
          </a:prstGeom>
          <a:solidFill>
            <a:srgbClr val="E1F0E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26280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62856" y="239572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importance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562856" y="2724912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compliance affects exam eligibility for every student, every trimester, across the whole university.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10144" y="1645920"/>
            <a:ext cx="3502152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11312" y="1810512"/>
            <a:ext cx="512064" cy="512064"/>
          </a:xfrm>
          <a:prstGeom prst="ellipse">
            <a:avLst/>
          </a:prstGeom>
          <a:solidFill>
            <a:srgbClr val="FAECD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11312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247888" y="239572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automation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8247888" y="2724912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do not scale past a few hundred students spread across many sections and instructors.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0080" y="352044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41248" y="3685032"/>
            <a:ext cx="512064" cy="512064"/>
          </a:xfrm>
          <a:prstGeom prst="ellipse">
            <a:avLst/>
          </a:prstGeom>
          <a:solidFill>
            <a:srgbClr val="F7E4E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41248" y="3685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77824" y="4270248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877824" y="459943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disputed records, earlier at-risk alerts for students nearing the detention threshold, and time saved for faculty.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72200" y="352044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373368" y="3685032"/>
            <a:ext cx="512064" cy="512064"/>
          </a:xfrm>
          <a:prstGeom prst="ellipse">
            <a:avLst/>
          </a:prstGeom>
          <a:solidFill>
            <a:srgbClr val="E1F0E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373368" y="3685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9944" y="4270248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Broader relevance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6409944" y="459943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(maps to CO1–CO6), industrial (production-grade backend skills), and social (fair, transparent records for every student).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finished system must do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1892808"/>
            <a:ext cx="457200" cy="457200"/>
          </a:xfrm>
          <a:prstGeom prst="ellipse">
            <a:avLst/>
          </a:prstGeom>
          <a:solidFill>
            <a:srgbClr val="F7E4E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18105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normalised relational schema for academic entities, paired with a document store for high-volume attendance events.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2670048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60120" y="2825496"/>
            <a:ext cx="457200" cy="457200"/>
          </a:xfrm>
          <a:prstGeom prst="ellipse">
            <a:avLst/>
          </a:prstGeom>
          <a:solidFill>
            <a:srgbClr val="F7E4E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27432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 FastAPI service layer, with JWT + role-based access control, to mark and query attendance.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3602736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60120" y="3758184"/>
            <a:ext cx="457200" cy="457200"/>
          </a:xfrm>
          <a:prstGeom prst="ellipse">
            <a:avLst/>
          </a:prstGeom>
          <a:solidFill>
            <a:srgbClr val="F7E4E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012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36758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LTPS-weighted attendance analytics aligned to the university's condonation / detention policy bands.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4535424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60120" y="4690872"/>
            <a:ext cx="457200" cy="457200"/>
          </a:xfrm>
          <a:prstGeom prst="ellipse">
            <a:avLst/>
          </a:prstGeom>
          <a:solidFill>
            <a:srgbClr val="F7E4E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6012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600200" y="460857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front-end dashboard with live class tracking and safe-to-miss projections.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" y="5468112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60120" y="5623560"/>
            <a:ext cx="457200" cy="457200"/>
          </a:xfrm>
          <a:prstGeom prst="ellipse">
            <a:avLst/>
          </a:prstGeom>
          <a:solidFill>
            <a:srgbClr val="F7E4E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6012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600200" y="554126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face-embedding based verification as an optional biometric check-in mode, using approximate nearest-neighbour search.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CONTEXT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commonly used for automated attendance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2834640" cy="384048"/>
          </a:xfrm>
          <a:prstGeom prst="rect">
            <a:avLst/>
          </a:prstGeom>
          <a:solidFill>
            <a:srgbClr val="1B1B1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" y="1691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3291840" cy="384048"/>
          </a:xfrm>
          <a:prstGeom prst="rect">
            <a:avLst/>
          </a:prstGeom>
          <a:solidFill>
            <a:srgbClr val="1B1B1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584448" y="1691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technique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766560" y="1691640"/>
            <a:ext cx="4754880" cy="384048"/>
          </a:xfrm>
          <a:prstGeom prst="rect">
            <a:avLst/>
          </a:prstGeom>
          <a:solidFill>
            <a:srgbClr val="1B1B1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76288" y="1691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075688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" y="20756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/ barcode check-in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3474720" y="2075688"/>
            <a:ext cx="3291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84448" y="20756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swipe at classroom entry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6766560" y="2075688"/>
            <a:ext cx="4754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76288" y="207568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attendance still possible (card sharing); no real-time policy analytics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640080" y="2852928"/>
            <a:ext cx="2834640" cy="77724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" y="28529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Face-recognition attendance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3474720" y="2852928"/>
            <a:ext cx="3291840" cy="77724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84448" y="28529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classifier per enrolled student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6766560" y="2852928"/>
            <a:ext cx="4754880" cy="77724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76288" y="28529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frequent retraining; no approximate-search index, so it doesn't scale past small cohorts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640080" y="3630168"/>
            <a:ext cx="2834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" y="363016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mobile check-in apps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3474720" y="3630168"/>
            <a:ext cx="3291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84448" y="36301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Time-boxed QR code scanned in class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6766560" y="3630168"/>
            <a:ext cx="47548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76288" y="36301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are easily shared; thin audit trail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640080" y="4407408"/>
            <a:ext cx="2834640" cy="77724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" y="44074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ERP attendance modules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3474720" y="4407408"/>
            <a:ext cx="3291840" cy="77724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584448" y="44074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extension to the campus ERP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6766560" y="4407408"/>
            <a:ext cx="4754880" cy="77724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76288" y="44074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and tightly coupled; hard to extend with a new verification mode</a:t>
            </a:r>
            <a:endParaRPr lang="en-US" sz="98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replace this table with the specific papers your team reviewed — include author, year, and venue for each before submission.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CONTEXT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surveyed approaches leave unaddressed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773936"/>
            <a:ext cx="100584" cy="100584"/>
          </a:xfrm>
          <a:prstGeom prst="ellipse">
            <a:avLst/>
          </a:prstGeom>
          <a:solidFill>
            <a:srgbClr val="1F6E5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16642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use a single database for everything, with no separation between relational, event, and vector data.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304288"/>
            <a:ext cx="100584" cy="100584"/>
          </a:xfrm>
          <a:prstGeom prst="ellipse">
            <a:avLst/>
          </a:prstGeom>
          <a:solidFill>
            <a:srgbClr val="1F6E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21945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Face-recognition systems rarely use approximate nearest-neighbour indexing, so they don't scale past small enrolments.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34640"/>
            <a:ext cx="100584" cy="100584"/>
          </a:xfrm>
          <a:prstGeom prst="ellipse">
            <a:avLst/>
          </a:prstGeom>
          <a:solidFill>
            <a:srgbClr val="1F6E5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2491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systems apply university-specific condonation / detention policy bands automatically.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364992"/>
            <a:ext cx="100584" cy="100584"/>
          </a:xfrm>
          <a:prstGeom prst="ellipse">
            <a:avLst/>
          </a:prstGeom>
          <a:solidFill>
            <a:srgbClr val="1F6E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325526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give no ‘safe to miss’ or ‘must attend’ projection back to the student.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41605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B1B1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43434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6634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attendance tools couple verification and storage tightly to a single database, and rarely expose policy-aware analytics to the student. SAMS addresses this by separating relational, document, and vector storage by access pattern, and computing LTPS-weighted zone projections in real time.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APPROACH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Preprocessing → Algorithm → Processing → Output → Evaluation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1B1B1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9385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4963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B9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event: session, student, timestamp, optional embedding</a:t>
            </a:r>
            <a:endParaRPr lang="en-US" sz="830" dirty="0"/>
          </a:p>
        </p:txBody>
      </p:sp>
      <p:sp>
        <p:nvSpPr>
          <p:cNvPr id="10" name="Text 7"/>
          <p:cNvSpPr txBox="1"/>
          <p:nvPr/>
        </p:nvSpPr>
        <p:spPr>
          <a:xfrm>
            <a:off x="2331720" y="22174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496312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A3263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587752" y="19385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587752" y="24963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F3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RBAC check, session / enrolment validation</a:t>
            </a:r>
            <a:endParaRPr lang="en-US" sz="830" dirty="0"/>
          </a:p>
        </p:txBody>
      </p:sp>
      <p:sp>
        <p:nvSpPr>
          <p:cNvPr id="14" name="Text 11"/>
          <p:cNvSpPr txBox="1"/>
          <p:nvPr/>
        </p:nvSpPr>
        <p:spPr>
          <a:xfrm>
            <a:off x="4187952" y="22174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52544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1F6E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443984" y="19385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43984" y="24963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B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LTPS-weighted scoring; optional HNSW similarity search</a:t>
            </a:r>
            <a:endParaRPr lang="en-US" sz="830" dirty="0"/>
          </a:p>
        </p:txBody>
      </p:sp>
      <p:sp>
        <p:nvSpPr>
          <p:cNvPr id="18" name="Text 15"/>
          <p:cNvSpPr txBox="1"/>
          <p:nvPr/>
        </p:nvSpPr>
        <p:spPr>
          <a:xfrm>
            <a:off x="6044184" y="22174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08776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B8791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300216" y="19385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300216" y="24963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F6D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Write-through to Postgres + MongoDB, Saga compensation</a:t>
            </a:r>
            <a:endParaRPr lang="en-US" sz="830" dirty="0"/>
          </a:p>
        </p:txBody>
      </p:sp>
      <p:sp>
        <p:nvSpPr>
          <p:cNvPr id="22" name="Text 19"/>
          <p:cNvSpPr txBox="1"/>
          <p:nvPr/>
        </p:nvSpPr>
        <p:spPr>
          <a:xfrm>
            <a:off x="7900416" y="22174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065008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1B1B1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156448" y="19385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156448" y="24963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B9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%, policy zone, live dashboard update</a:t>
            </a:r>
            <a:endParaRPr lang="en-US" sz="830" dirty="0"/>
          </a:p>
        </p:txBody>
      </p:sp>
      <p:sp>
        <p:nvSpPr>
          <p:cNvPr id="26" name="Text 23"/>
          <p:cNvSpPr txBox="1"/>
          <p:nvPr/>
        </p:nvSpPr>
        <p:spPr>
          <a:xfrm>
            <a:off x="9756648" y="22174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921240" y="182880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7A1C2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0012680" y="19385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012680" y="24963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F3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precision / recall, throughput (see Slides 15–17)</a:t>
            </a:r>
            <a:endParaRPr lang="en-US" sz="83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2926080" y="34290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check-in carries the session ID, student ID, a timestamp, and — in biometric mode — a 512-dimension face embedding.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4050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2926080" y="405079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Gateway verifies the JWT, checks the caller's role, and confirms the student is enrolled in that session.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46725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/ model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2926080" y="467258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LTPS-weighted attendance scoring runs on every event; an optional HNSW nearest-neighbour search verifies identity.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52943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output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2926080" y="529437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and MongoDB are updated together with Saga-based compensation on partial failure; the dashboard reflects the change immediately.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APPROACH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 through the polyglot microservices layer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1B1B1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" y="1865376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24028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B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app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542032" y="19431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834640" y="173736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A3263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999232" y="1865376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999232" y="224028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routing, JWT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736592" y="19431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029200" y="1737360"/>
            <a:ext cx="2011680" cy="960120"/>
          </a:xfrm>
          <a:prstGeom prst="roundRect">
            <a:avLst>
              <a:gd name="adj" fmla="val 8571"/>
            </a:avLst>
          </a:prstGeom>
          <a:solidFill>
            <a:srgbClr val="1F6E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193792" y="186537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193792" y="224028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Node / Spring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068312" y="19431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7360920" y="173736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B8791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525512" y="1865376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525512" y="224028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6D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Mongo · pgvector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080" y="3108960"/>
            <a:ext cx="350215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96112" y="3328416"/>
            <a:ext cx="1737360" cy="292608"/>
          </a:xfrm>
          <a:prstGeom prst="roundRect">
            <a:avLst>
              <a:gd name="adj" fmla="val 21875"/>
            </a:avLst>
          </a:prstGeom>
          <a:solidFill>
            <a:srgbClr val="F7E4E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" y="33284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96112" y="3712464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service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896112" y="407822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attendance, computes LTPS, owns Postgres.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325112" y="3108960"/>
            <a:ext cx="350215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81144" y="3328416"/>
            <a:ext cx="1737360" cy="292608"/>
          </a:xfrm>
          <a:prstGeom prst="roundRect">
            <a:avLst>
              <a:gd name="adj" fmla="val 21875"/>
            </a:avLst>
          </a:prstGeom>
          <a:solidFill>
            <a:srgbClr val="E1F0E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581144" y="33284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Socket.io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4581144" y="3712464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service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4581144" y="407822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 state and notifications, owns Mongo.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10144" y="3108960"/>
            <a:ext cx="350215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266176" y="3328416"/>
            <a:ext cx="1737360" cy="292608"/>
          </a:xfrm>
          <a:prstGeom prst="roundRect">
            <a:avLst>
              <a:gd name="adj" fmla="val 21875"/>
            </a:avLst>
          </a:prstGeom>
          <a:solidFill>
            <a:srgbClr val="FAECD5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266176" y="33284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JPA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8266176" y="3712464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service</a:t>
            </a:r>
            <a:endParaRPr lang="en-US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8266176" y="407822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and exports attendance analytics.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40080" y="493776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1B1B18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914400" y="51206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Cross-service writes use Saga-based compensating actions on partial failure; each service owns its own database, following a database-per-service pattern.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APPROACH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behind every layer of SAMS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 &amp; frameworks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1975104"/>
            <a:ext cx="206654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77240" y="197510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43784" y="1975104"/>
            <a:ext cx="206654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980944" y="197510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47488" y="1975104"/>
            <a:ext cx="206654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184648" y="197510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251192" y="1975104"/>
            <a:ext cx="206654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388352" y="197510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454896" y="1975104"/>
            <a:ext cx="206654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592056" y="197510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stores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3072384"/>
            <a:ext cx="206654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77240" y="307238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843784" y="3072384"/>
            <a:ext cx="206654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2980944" y="307238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6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47488" y="3072384"/>
            <a:ext cx="206654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184648" y="307238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(HNSW)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4169664"/>
            <a:ext cx="206654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777240" y="416966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843784" y="4169664"/>
            <a:ext cx="206654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980944" y="416966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47488" y="4169664"/>
            <a:ext cx="206654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5184648" y="416966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251192" y="4169664"/>
            <a:ext cx="2066544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7388352" y="4169664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&amp; tooling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640080" y="5266944"/>
            <a:ext cx="16992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777240" y="5266944"/>
            <a:ext cx="1424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476500" y="5266944"/>
            <a:ext cx="16992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2613660" y="5266944"/>
            <a:ext cx="1424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312920" y="5266944"/>
            <a:ext cx="16992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4450080" y="5266944"/>
            <a:ext cx="1424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149340" y="5266944"/>
            <a:ext cx="16992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6286500" y="5266944"/>
            <a:ext cx="1424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985760" y="5266944"/>
            <a:ext cx="16992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8122920" y="5266944"/>
            <a:ext cx="1424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822180" y="5266944"/>
            <a:ext cx="16992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9959340" y="5266944"/>
            <a:ext cx="1424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Linux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DATA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/ Input Details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feeds the system, and how it's shaped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2743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name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383280" y="1691640"/>
            <a:ext cx="8138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93008" y="1691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SAMS-Mock-T4 (internally generated academic dataset)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40080" y="2148840"/>
            <a:ext cx="2743200" cy="45720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383280" y="2148840"/>
            <a:ext cx="8138160" cy="45720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93008" y="21488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13 timetable + synthetic check-in events generated per class session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40080" y="2606040"/>
            <a:ext cx="2743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/ events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3383280" y="2606040"/>
            <a:ext cx="8138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93008" y="2606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~40,000 attendance events per trimester (5 subjects × ~7 sessions/week × 14 weeks)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640080" y="3063240"/>
            <a:ext cx="2743200" cy="45720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3383280" y="3063240"/>
            <a:ext cx="8138160" cy="45720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93008" y="30632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session_id, student_id, timestamp, status, optional 512-d face embedding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640080" y="3520440"/>
            <a:ext cx="2743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validation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3383280" y="3520440"/>
            <a:ext cx="8138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93008" y="3520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to LTPS logic; embedding threshold tuned on an 80/20 held-out split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640080" y="3977640"/>
            <a:ext cx="2743200" cy="45720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9808" y="3977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data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3383280" y="3977640"/>
            <a:ext cx="8138160" cy="45720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493008" y="3977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check-in events held out for load and regression testing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640080" y="4434840"/>
            <a:ext cx="2743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parameters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3383280" y="4434840"/>
            <a:ext cx="81381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493008" y="44348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session_id, student_id, timestamp, optional embedding vector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640080" y="4892040"/>
            <a:ext cx="2743200" cy="45720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49808" y="4892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target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3383280" y="4892040"/>
            <a:ext cx="8138160" cy="45720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493008" y="4892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status (present/absent), LTPS percentage, policy zone</a:t>
            </a:r>
            <a:endParaRPr lang="en-US" sz="98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sample dataset screenshot or table here once real check-in data is captured.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IMPLEMENTATION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– Module 1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&amp; Attendance Dashboard (React front end)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16916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017520" y="1691640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27248" y="16916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students and faculty a live, editable view of the weekly timetable and per-subject attendance.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40080" y="2350008"/>
            <a:ext cx="237744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500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017520" y="2350008"/>
            <a:ext cx="850392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27248" y="23500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or live timetable and attendance state; the current system clock.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40080" y="3008376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300837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3017520" y="3008376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27248" y="3008376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LTPS projection, an editable timetable cell picker, and a live/preview clock toggle.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640080" y="3666744"/>
            <a:ext cx="237744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" y="36667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3017520" y="3666744"/>
            <a:ext cx="850392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127248" y="366674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rendered dashboard: now/next class banner, timetable grid, and attendance cards with policy-zone badges.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640080" y="4325112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" y="43251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/ technique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3017520" y="4325112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27248" y="43251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function components and hooks; credit-weighted percentage calculation; target-based ‘can miss / must attend’ projection.</a:t>
            </a:r>
            <a:endParaRPr lang="en-US" sz="98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dashboard screenshot / short screen recording of the live app here.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IMPLEMENTATION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– Module 2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Service (FastAPI backend)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16916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017520" y="1691640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27248" y="16916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as the authoritative API for marking and querying attendance records.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40080" y="2350008"/>
            <a:ext cx="237744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500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017520" y="2350008"/>
            <a:ext cx="850392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27248" y="23500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POST requests carrying a JWT, session ID, and student ID.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40080" y="3008376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300837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3017520" y="3008376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27248" y="3008376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check, session/enrolment validation, a Postgres write for the canonical record, and a MongoDB write for the event log.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640080" y="3666744"/>
            <a:ext cx="237744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" y="36667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3017520" y="3666744"/>
            <a:ext cx="850392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127248" y="366674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attendance record and the student's updated LTPS-weighted percentage.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640080" y="4325112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" y="43251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/ technique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3017520" y="4325112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27248" y="43251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SQLAlchemy, PyJWT, Motor (async MongoDB driver).</a:t>
            </a:r>
            <a:endParaRPr lang="en-US" sz="98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API implementation screenshot (code or Swagger/OpenAPI docs) and a sample response here.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IMPLEMENTATION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– Module 3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Face-Embedding Verification (optional biometric mode)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16916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017520" y="1691640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27248" y="16916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student's identity at check-in using a face embedding, as an optional stronger verification mode.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40080" y="2350008"/>
            <a:ext cx="237744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500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017520" y="2350008"/>
            <a:ext cx="850392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27248" y="235000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512-dimension face embedding captured at check-in.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40080" y="3008376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300837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3017520" y="3008376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27248" y="3008376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approximate nearest-neighbour search in pgvector against enrolled embeddings, then a cosine-similarity threshold check.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640080" y="3666744"/>
            <a:ext cx="237744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" y="36667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3017520" y="3666744"/>
            <a:ext cx="850392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127248" y="366674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/ no-match decision with a confidence score, attached to the attendance record.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640080" y="4325112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" y="43251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/ technique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3017520" y="4325112"/>
            <a:ext cx="8503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27248" y="43251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pgvector, HNSW indexing, cosine similarity.</a:t>
            </a:r>
            <a:endParaRPr lang="en-US" sz="98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implementation screenshot and a sample match/no-match output here.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EVALUATION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and parameters used for testing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2743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16916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383280" y="1691640"/>
            <a:ext cx="8138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93008" y="16916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[Developer laptop specs] for local testing; [cloud VM spec, e.g. 2 vCPU / 4 GB] for load testing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40080" y="2221992"/>
            <a:ext cx="2743200" cy="530352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22199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environment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383280" y="2221992"/>
            <a:ext cx="8138160" cy="530352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93008" y="222199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3.11, Node 18, PostgreSQL 15, MongoDB 6, Docker 24, pytest, Locust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40080" y="2752344"/>
            <a:ext cx="2743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275234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3383280" y="2752344"/>
            <a:ext cx="8138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93008" y="2752344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SAMS-Mock-T4 (see Slide 11)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640080" y="3282696"/>
            <a:ext cx="2743200" cy="530352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" y="328269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parameters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3383280" y="3282696"/>
            <a:ext cx="8138160" cy="530352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93008" y="3282696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dimension 512; HNSW index (M=16, ef_construction=200); policy thresholds 75% / 85%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640080" y="3813048"/>
            <a:ext cx="2743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" y="381304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testing configuration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3383280" y="3813048"/>
            <a:ext cx="8138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93008" y="381304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for embedding-threshold tuning; full mock dataset for LTPS and API testing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640080" y="4343400"/>
            <a:ext cx="2743200" cy="530352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9808" y="43434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experiments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3383280" y="4343400"/>
            <a:ext cx="8138160" cy="530352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493008" y="434340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in after running: number of load-test runs and embedding-match trials]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640080" y="4873752"/>
            <a:ext cx="2743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" y="487375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3383280" y="4873752"/>
            <a:ext cx="81381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493008" y="487375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p95 latency, face-match precision/recall, load throughput, service uptime</a:t>
            </a:r>
            <a:endParaRPr lang="en-US" sz="98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EVALUATION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after running the experiments in Slide 15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5029200" cy="384048"/>
          </a:xfrm>
          <a:prstGeom prst="rect">
            <a:avLst/>
          </a:prstGeom>
          <a:solidFill>
            <a:srgbClr val="1B1B1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0" y="1691640"/>
            <a:ext cx="2926080" cy="384048"/>
          </a:xfrm>
          <a:prstGeom prst="rect">
            <a:avLst/>
          </a:prstGeom>
          <a:solidFill>
            <a:srgbClr val="1B1B1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779008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595360" y="1691640"/>
            <a:ext cx="2926080" cy="384048"/>
          </a:xfrm>
          <a:prstGeom prst="rect">
            <a:avLst/>
          </a:prstGeom>
          <a:solidFill>
            <a:srgbClr val="1B1B1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05088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075688"/>
            <a:ext cx="5029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" y="20756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p95 latency (attendance mark)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5669280" y="2075688"/>
            <a:ext cx="2926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79008" y="20756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150 ms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8595360" y="2075688"/>
            <a:ext cx="2926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05088" y="20756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in]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640080" y="2624328"/>
            <a:ext cx="5029200" cy="54864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" y="26243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Face-match precision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5669280" y="2624328"/>
            <a:ext cx="2926080" cy="54864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79008" y="2624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8595360" y="2624328"/>
            <a:ext cx="2926080" cy="54864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705088" y="2624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in]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640080" y="3172968"/>
            <a:ext cx="5029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" y="31729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Face-match recall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5669280" y="3172968"/>
            <a:ext cx="2926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779008" y="3172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8595360" y="3172968"/>
            <a:ext cx="2926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705088" y="3172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in]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640080" y="3721608"/>
            <a:ext cx="5029200" cy="54864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" y="37216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throughput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5669280" y="3721608"/>
            <a:ext cx="2926080" cy="54864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779008" y="37216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rps sustained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8595360" y="3721608"/>
            <a:ext cx="2926080" cy="548640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05088" y="37216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in]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640080" y="4270248"/>
            <a:ext cx="50292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49808" y="42702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check-in → dashboard update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5669280" y="4270248"/>
            <a:ext cx="2926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779008" y="4270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80" dirty="0"/>
          </a:p>
        </p:txBody>
      </p:sp>
      <p:sp>
        <p:nvSpPr>
          <p:cNvPr id="41" name="Shape 38"/>
          <p:cNvSpPr/>
          <p:nvPr/>
        </p:nvSpPr>
        <p:spPr>
          <a:xfrm>
            <a:off x="8595360" y="4270248"/>
            <a:ext cx="2926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705088" y="4270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in]</a:t>
            </a:r>
            <a:endParaRPr lang="en-US" sz="980" dirty="0"/>
          </a:p>
        </p:txBody>
      </p:sp>
      <p:sp>
        <p:nvSpPr>
          <p:cNvPr id="43" name="Text 40"/>
          <p:cNvSpPr txBox="1"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observed column using tables, graphs, or sample prediction screenshots once experiments are run.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EVALUATION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to report once testing is complete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35021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" y="18288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2219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in observed value]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5112" y="1691640"/>
            <a:ext cx="35021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53712" y="18288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53712" y="22219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in observed value]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10144" y="1691640"/>
            <a:ext cx="35021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38744" y="18288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238744" y="22219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in observed value]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2834640"/>
            <a:ext cx="35021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68680" y="29718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33649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in observed value]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25112" y="2834640"/>
            <a:ext cx="35021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553712" y="29718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Time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553712" y="33649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in observed value]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10144" y="2834640"/>
            <a:ext cx="35021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238744" y="29718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8238744" y="33649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in observed value]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40080" y="411480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B1B1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14400" y="42976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461772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approach achieved [XX]% [metric] compared with [XX]% for the existing approach — fill in once the comparison in Slide 19 has real numbers.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EVALUATION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/ Working Demo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actual working prototype during the review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81965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17099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login page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27685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21671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view — the editable weekly grid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3405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6243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dashboard — per-subject cards with policy-zone badges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19125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30815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flow — marking attendance (and face-verification match, if demoed)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64845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35387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admin view — raw records in Postgres and MongoDB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10565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39959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integrated application, end to end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1B1B1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52578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577840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‘Attendo’ React dashboard already built for this project covers the timetable and attendance screens — capture screenshots from it directly for this slide.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POSITIONING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System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 against the common approaches from Slide 6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2377440" cy="384048"/>
          </a:xfrm>
          <a:prstGeom prst="rect">
            <a:avLst/>
          </a:prstGeom>
          <a:solidFill>
            <a:srgbClr val="1B1B1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" y="1691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17520" y="1691640"/>
            <a:ext cx="2651760" cy="384048"/>
          </a:xfrm>
          <a:prstGeom prst="rect">
            <a:avLst/>
          </a:prstGeom>
          <a:solidFill>
            <a:srgbClr val="1B1B1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127248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/ QR systems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0" y="1691640"/>
            <a:ext cx="2651760" cy="384048"/>
          </a:xfrm>
          <a:prstGeom prst="rect">
            <a:avLst/>
          </a:prstGeom>
          <a:solidFill>
            <a:srgbClr val="1B1B1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79008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ERP modules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321040" y="1691640"/>
            <a:ext cx="3200400" cy="384048"/>
          </a:xfrm>
          <a:prstGeom prst="rect">
            <a:avLst/>
          </a:prstGeom>
          <a:solidFill>
            <a:srgbClr val="1B1B1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430768" y="1691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 (proposed)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2075688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20756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mode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3017520" y="2075688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27248" y="20756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or code scan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5669280" y="2075688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79008" y="20756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card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8321040" y="2075688"/>
            <a:ext cx="32004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30768" y="207568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check-in + optional face-embedding match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640080" y="2734056"/>
            <a:ext cx="237744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" y="27340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3017520" y="2734056"/>
            <a:ext cx="265176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27248" y="27340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database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5669280" y="2734056"/>
            <a:ext cx="265176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779008" y="27340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vendor-owned database</a:t>
            </a:r>
            <a:endParaRPr lang="en-US" sz="980" dirty="0"/>
          </a:p>
        </p:txBody>
      </p:sp>
      <p:sp>
        <p:nvSpPr>
          <p:cNvPr id="29" name="Shape 26"/>
          <p:cNvSpPr/>
          <p:nvPr/>
        </p:nvSpPr>
        <p:spPr>
          <a:xfrm>
            <a:off x="8321040" y="2734056"/>
            <a:ext cx="320040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30768" y="273405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Polyglot: Postgres + MongoDB + pgvector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640080" y="3392424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" y="339242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awareness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3017520" y="3392424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127248" y="339242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5669280" y="3392424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779008" y="339242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Limited, manual review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8321040" y="3392424"/>
            <a:ext cx="32004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430768" y="339242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75/85% zone calculation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640080" y="4050792"/>
            <a:ext cx="237744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49808" y="40507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Student-facing analytics</a:t>
            </a:r>
            <a:endParaRPr lang="en-US" sz="980" dirty="0"/>
          </a:p>
        </p:txBody>
      </p:sp>
      <p:sp>
        <p:nvSpPr>
          <p:cNvPr id="41" name="Shape 38"/>
          <p:cNvSpPr/>
          <p:nvPr/>
        </p:nvSpPr>
        <p:spPr>
          <a:xfrm>
            <a:off x="3017520" y="4050792"/>
            <a:ext cx="265176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127248" y="40507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80" dirty="0"/>
          </a:p>
        </p:txBody>
      </p:sp>
      <p:sp>
        <p:nvSpPr>
          <p:cNvPr id="43" name="Shape 40"/>
          <p:cNvSpPr/>
          <p:nvPr/>
        </p:nvSpPr>
        <p:spPr>
          <a:xfrm>
            <a:off x="5669280" y="4050792"/>
            <a:ext cx="265176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779008" y="40507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available</a:t>
            </a:r>
            <a:endParaRPr lang="en-US" sz="980" dirty="0"/>
          </a:p>
        </p:txBody>
      </p:sp>
      <p:sp>
        <p:nvSpPr>
          <p:cNvPr id="45" name="Shape 42"/>
          <p:cNvSpPr/>
          <p:nvPr/>
        </p:nvSpPr>
        <p:spPr>
          <a:xfrm>
            <a:off x="8321040" y="4050792"/>
            <a:ext cx="3200400" cy="658368"/>
          </a:xfrm>
          <a:prstGeom prst="rect">
            <a:avLst/>
          </a:prstGeom>
          <a:solidFill>
            <a:srgbClr val="FBFAF7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430768" y="40507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‘safe to miss’ / ‘must attend’ projection</a:t>
            </a:r>
            <a:endParaRPr lang="en-US" sz="980" dirty="0"/>
          </a:p>
        </p:txBody>
      </p:sp>
      <p:sp>
        <p:nvSpPr>
          <p:cNvPr id="47" name="Shape 44"/>
          <p:cNvSpPr/>
          <p:nvPr/>
        </p:nvSpPr>
        <p:spPr>
          <a:xfrm>
            <a:off x="640080" y="4709160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49808" y="47091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980" dirty="0"/>
          </a:p>
        </p:txBody>
      </p:sp>
      <p:sp>
        <p:nvSpPr>
          <p:cNvPr id="49" name="Shape 46"/>
          <p:cNvSpPr/>
          <p:nvPr/>
        </p:nvSpPr>
        <p:spPr>
          <a:xfrm>
            <a:off x="3017520" y="4709160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3127248" y="47091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80" dirty="0"/>
          </a:p>
        </p:txBody>
      </p:sp>
      <p:sp>
        <p:nvSpPr>
          <p:cNvPr id="51" name="Shape 48"/>
          <p:cNvSpPr/>
          <p:nvPr/>
        </p:nvSpPr>
        <p:spPr>
          <a:xfrm>
            <a:off x="5669280" y="4709160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779008" y="47091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tightly coupled to ERP</a:t>
            </a:r>
            <a:endParaRPr lang="en-US" sz="980" dirty="0"/>
          </a:p>
        </p:txBody>
      </p:sp>
      <p:sp>
        <p:nvSpPr>
          <p:cNvPr id="53" name="Shape 50"/>
          <p:cNvSpPr/>
          <p:nvPr/>
        </p:nvSpPr>
        <p:spPr>
          <a:xfrm>
            <a:off x="8321040" y="4709160"/>
            <a:ext cx="32004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430768" y="47091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independent, per-service databases</a:t>
            </a:r>
            <a:endParaRPr lang="en-US" sz="980" dirty="0"/>
          </a:p>
        </p:txBody>
      </p:sp>
      <p:sp>
        <p:nvSpPr>
          <p:cNvPr id="55" name="Text 52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POSITIONING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got in the way, and how it was handled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18541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0756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data consistent across Postgres and MongoDB on cross-service writes.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752344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26426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Face-embedding match latency as the enrolled population grows.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319272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4400" y="320954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three backend frameworks (FastAPI, Node.js, Spring Boot) behind one gateway.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3886200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37764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encoding the university's condonation / detention policy.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26480" y="2185416"/>
            <a:ext cx="100584" cy="100584"/>
          </a:xfrm>
          <a:prstGeom prst="ellipse">
            <a:avLst/>
          </a:prstGeom>
          <a:solidFill>
            <a:srgbClr val="1F6E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0" y="20756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Saga-based compensating actions plus a single-writer pattern (Attendance service) for both stores.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126480" y="2752344"/>
            <a:ext cx="100584" cy="100584"/>
          </a:xfrm>
          <a:prstGeom prst="ellipse">
            <a:avLst/>
          </a:prstGeom>
          <a:solidFill>
            <a:srgbClr val="1F6E5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0" y="26426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indexing keeps approximate nearest-neighbour search under ~100ms even as embeddings scale.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126480" y="3319272"/>
            <a:ext cx="100584" cy="100584"/>
          </a:xfrm>
          <a:prstGeom prst="ellipse">
            <a:avLst/>
          </a:prstGeom>
          <a:solidFill>
            <a:srgbClr val="1F6E5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0" y="32095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API Gateway unifies auth and routing so each service stays independently deployable.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126480" y="3886200"/>
            <a:ext cx="100584" cy="100584"/>
          </a:xfrm>
          <a:prstGeom prst="ellipse">
            <a:avLst/>
          </a:prstGeom>
          <a:solidFill>
            <a:srgbClr val="1F6E5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00800" y="3776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thresholds are configurable constants, validated directly against the university's academic regulations.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POSITIONING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Progress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as of this review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144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Progress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194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26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754880" y="2331720"/>
            <a:ext cx="6309360" cy="256032"/>
          </a:xfrm>
          <a:prstGeom prst="roundRect">
            <a:avLst>
              <a:gd name="adj" fmla="val 50000"/>
            </a:avLst>
          </a:prstGeom>
          <a:solidFill>
            <a:srgbClr val="EFEDE4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2331720"/>
            <a:ext cx="3470148" cy="256032"/>
          </a:xfrm>
          <a:prstGeom prst="roundRect">
            <a:avLst>
              <a:gd name="adj" fmla="val 50000"/>
            </a:avLst>
          </a:prstGeom>
          <a:solidFill>
            <a:srgbClr val="A3263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54880" y="26517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[Update this figure to reflect the team's actual completion percentage before the review]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" y="3017520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dashboard (React)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144000" y="3099816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1F0E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0" y="30998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3547872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914400" y="35478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+ document schema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144000" y="363016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1F0E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0" y="36301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" y="4078224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914400" y="407822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service (FastAPI)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144000" y="416052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AECD5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0" y="4160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40080" y="4608576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914400" y="46085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Face-embedding verification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144000" y="469087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AECD5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144000" y="46908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0080" y="5138928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914400" y="5138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service (Node.js)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144000" y="5221224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7E4E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144000" y="52212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40080" y="5669280"/>
            <a:ext cx="10881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914400" y="5669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service (Spring Boot)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9144000" y="5751576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7E4E6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144000" y="57515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CLOSING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 before the system is production-ready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792224"/>
            <a:ext cx="128016" cy="128016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16642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Node.js session service and Spring Boot reporting service.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359152"/>
            <a:ext cx="128016" cy="128016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120" y="22311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load and precision/recall experiments defined in Slide 15.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926080"/>
            <a:ext cx="128016" cy="128016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279806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 full-section enrolment dataset rather than the mock trimester dataset.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493008"/>
            <a:ext cx="128016" cy="128016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0120" y="33649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face-embedding match accuracy and API latency based on those results.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4059936"/>
            <a:ext cx="128016" cy="128016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60120" y="39319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and deploy the full stack to Kubernetes with CI/CD.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626864"/>
            <a:ext cx="128016" cy="128016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60120" y="44988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documentation, including the C4 architecture diagrams and README.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09760" y="4480560"/>
            <a:ext cx="4206240" cy="4206240"/>
          </a:xfrm>
          <a:prstGeom prst="ellipse">
            <a:avLst/>
          </a:prstGeom>
          <a:solidFill>
            <a:srgbClr val="7A1C2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804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188720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foundation,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harden and scale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822960" y="2761488"/>
            <a:ext cx="118872" cy="118872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15568" y="26426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attendance doesn't scale, and errors carry real academic consequences under the 75/85% policy.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3291840"/>
            <a:ext cx="118872" cy="118872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5568" y="3172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 proposes a polyglot microservices platform: relational core, document event log, and an optional vector-based verification mode.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822192"/>
            <a:ext cx="118872" cy="118872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15568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front-end dashboard and the core schema are implemented and working against mock data today.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4352544"/>
            <a:ext cx="118872" cy="118872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15568" y="42336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results (once populated in Slides 16–17) will show measurable gains in speed and auditability over manual marking.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4882896"/>
            <a:ext cx="118872" cy="118872"/>
          </a:xfrm>
          <a:prstGeom prst="ellipse">
            <a:avLst/>
          </a:prstGeom>
          <a:solidFill>
            <a:srgbClr val="1F7A4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5568" y="476402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contribution: a reusable pattern for policy-aware, real-time attendance tracking that other departments can adopt.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" y="5440680"/>
            <a:ext cx="7680960" cy="1005840"/>
          </a:xfrm>
          <a:prstGeom prst="roundRect">
            <a:avLst>
              <a:gd name="adj" fmla="val 8182"/>
            </a:avLst>
          </a:prstGeom>
          <a:solidFill>
            <a:srgbClr val="1B1B1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97280" y="5623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B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STATEMENT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5943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demonstrates the feasibility of addressing the identified problem using the selected methodology, and provides a foundation for further improvement and real-world implementation.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/home/claude/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292608"/>
            <a:ext cx="850392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1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CLOSING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658368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13385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with the specific sources your team used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81965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17099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an IEEE / ACM paper on RFID- or QR-based attendance systems]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32257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22128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a paper on face-recognition based attendance systems]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82549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157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a paper or survey on polyglot persistence / the CAP theorem]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32841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32186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— official documentation (github.com/pgvector/pgvector)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383133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3721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official documentation (fastapi.tiangolo.com)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4334256"/>
            <a:ext cx="100584" cy="100584"/>
          </a:xfrm>
          <a:prstGeom prst="ellipse">
            <a:avLst/>
          </a:prstGeom>
          <a:solidFill>
            <a:srgbClr val="A3263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42245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KL University's academic regulations / attendance policy document]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51052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Management System  ·  Sec 13 / Team 21  ·  Project Review – II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2026-09-15T05:00:09Z</dcterms:created>
  <dcterms:modified xsi:type="dcterms:W3CDTF">2026-09-15T05:00:09Z</dcterms:modified>
</cp:coreProperties>
</file>
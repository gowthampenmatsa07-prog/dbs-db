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6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3200" b="1" dirty="0">
                <a:solidFill>
                  <a:srgbClr val="C00000"/>
                </a:solidFill>
                <a:latin typeface="+mn-lt"/>
              </a:rPr>
            </a:br>
            <a:br>
              <a:rPr lang="en-US" sz="3200" b="1" dirty="0">
                <a:solidFill>
                  <a:srgbClr val="C00000"/>
                </a:solidFill>
                <a:latin typeface="+mn-lt"/>
              </a:rPr>
            </a:br>
            <a:r>
              <a:rPr lang="en-US" sz="3200" b="1" dirty="0">
                <a:solidFill>
                  <a:srgbClr val="C00000"/>
                </a:solidFill>
                <a:latin typeface="+mn-lt"/>
              </a:rPr>
              <a:t>Student Attendance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28622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sz="1600" b="0" dirty="0">
                <a:solidFill>
                  <a:srgbClr val="0070C0"/>
                </a:solidFill>
              </a:rPr>
              <a:t>A. Siddhartha Varma – 2520090119</a:t>
            </a:r>
          </a:p>
          <a:p>
            <a:r>
              <a:rPr lang="en-US" sz="1600" b="0" dirty="0">
                <a:solidFill>
                  <a:srgbClr val="0070C0"/>
                </a:solidFill>
              </a:rPr>
              <a:t>P. Gowtham Varma – 2520090202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6"/>
          <p:cNvSpPr/>
          <p:nvPr/>
        </p:nvSpPr>
        <p:spPr>
          <a:xfrm>
            <a:off x="3736848" y="221673"/>
            <a:ext cx="4718304" cy="51723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107" name="TextBox 108"/>
          <p:cNvSpPr txBox="1"/>
          <p:nvPr/>
        </p:nvSpPr>
        <p:spPr>
          <a:xfrm>
            <a:off x="3736848" y="221673"/>
            <a:ext cx="4718304" cy="517236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Contents</a:t>
            </a:r>
          </a:p>
        </p:txBody>
      </p:sp>
      <p:sp>
        <p:nvSpPr>
          <p:cNvPr id="101" name="Shape 102"/>
          <p:cNvSpPr/>
          <p:nvPr/>
        </p:nvSpPr>
        <p:spPr>
          <a:xfrm>
            <a:off x="566928" y="1280160"/>
            <a:ext cx="4974336" cy="475488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347472" tIns="219456" rIns="347472" bIns="219456" rtlCol="0" anchor="ctr"/>
          <a:lstStyle/>
          <a:p>
            <a:pPr marL="0" indent="0" algn="l">
              <a:lnSpc>
                <a:spcPct val="100000"/>
              </a:lnSpc>
              <a:spcAft>
                <a:spcPts val="43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01   </a:t>
            </a: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Abstract</a:t>
            </a:r>
          </a:p>
          <a:p>
            <a:pPr marL="0" indent="0" algn="l">
              <a:lnSpc>
                <a:spcPct val="100000"/>
              </a:lnSpc>
              <a:spcAft>
                <a:spcPts val="43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02   </a:t>
            </a: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Introduction</a:t>
            </a:r>
          </a:p>
          <a:p>
            <a:pPr marL="0" indent="0" algn="l">
              <a:lnSpc>
                <a:spcPct val="100000"/>
              </a:lnSpc>
              <a:spcAft>
                <a:spcPts val="43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03   </a:t>
            </a: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Motivation</a:t>
            </a:r>
          </a:p>
          <a:p>
            <a:pPr marL="0" indent="0" algn="l">
              <a:lnSpc>
                <a:spcPct val="100000"/>
              </a:lnSpc>
              <a:spcAft>
                <a:spcPts val="43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04   </a:t>
            </a: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Literature Survey</a:t>
            </a:r>
          </a:p>
          <a:p>
            <a:pPr marL="0" indent="0" algn="l">
              <a:lnSpc>
                <a:spcPct val="100000"/>
              </a:lnSpc>
              <a:spcAft>
                <a:spcPts val="43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05   </a:t>
            </a: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Research Gap</a:t>
            </a:r>
          </a:p>
          <a:p>
            <a:pPr marL="0" indent="0" algn="l">
              <a:lnSpc>
                <a:spcPct val="100000"/>
              </a:lnSpc>
              <a:spcAft>
                <a:spcPts val="43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06   </a:t>
            </a: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Problem Statement</a:t>
            </a:r>
          </a:p>
          <a:p>
            <a:pPr marL="0" indent="0" algn="l">
              <a:lnSpc>
                <a:spcPct val="100000"/>
              </a:lnSpc>
              <a:spcAft>
                <a:spcPts val="43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07   </a:t>
            </a: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Objectives</a:t>
            </a:r>
          </a:p>
          <a:p>
            <a:pPr marL="0" indent="0" algn="l">
              <a:lnSpc>
                <a:spcPct val="100000"/>
              </a:lnSpc>
              <a:spcAft>
                <a:spcPts val="43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08   </a:t>
            </a: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Proposed Methodology</a:t>
            </a:r>
          </a:p>
          <a:p>
            <a:pPr marL="0" indent="0" algn="l">
              <a:lnSpc>
                <a:spcPct val="100000"/>
              </a:lnSpc>
              <a:spcAft>
                <a:spcPts val="43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09   </a:t>
            </a: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System Architecture</a:t>
            </a:r>
          </a:p>
          <a:p>
            <a:pPr marL="0" indent="0" algn="l">
              <a:lnSpc>
                <a:spcPct val="100000"/>
              </a:lnSpc>
              <a:spcAft>
                <a:spcPts val="43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10   </a:t>
            </a: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Technologies Used</a:t>
            </a:r>
          </a:p>
          <a:p>
            <a:pPr marL="0" indent="0" algn="l">
              <a:lnSpc>
                <a:spcPct val="100000"/>
              </a:lnSpc>
              <a:spcAft>
                <a:spcPts val="43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11   </a:t>
            </a: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Dataset / Input Details</a:t>
            </a:r>
          </a:p>
        </p:txBody>
      </p:sp>
      <p:sp>
        <p:nvSpPr>
          <p:cNvPr id="103" name="Shape 104"/>
          <p:cNvSpPr/>
          <p:nvPr/>
        </p:nvSpPr>
        <p:spPr>
          <a:xfrm>
            <a:off x="5742432" y="1280160"/>
            <a:ext cx="4974336" cy="475488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347472" tIns="219456" rIns="347472" bIns="219456" rtlCol="0" anchor="ctr"/>
          <a:lstStyle/>
          <a:p>
            <a:pPr marL="0" indent="0" algn="l">
              <a:lnSpc>
                <a:spcPct val="100000"/>
              </a:lnSpc>
              <a:spcAft>
                <a:spcPts val="43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12   </a:t>
            </a: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Implementation – Modules 1–3</a:t>
            </a:r>
          </a:p>
          <a:p>
            <a:pPr marL="0" indent="0" algn="l">
              <a:lnSpc>
                <a:spcPct val="100000"/>
              </a:lnSpc>
              <a:spcAft>
                <a:spcPts val="43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13   </a:t>
            </a: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Hardware and Software Requirements</a:t>
            </a:r>
          </a:p>
          <a:p>
            <a:pPr marL="0" indent="0" algn="l">
              <a:lnSpc>
                <a:spcPct val="100000"/>
              </a:lnSpc>
              <a:spcAft>
                <a:spcPts val="43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14   </a:t>
            </a: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Results</a:t>
            </a:r>
          </a:p>
          <a:p>
            <a:pPr marL="0" indent="0" algn="l">
              <a:lnSpc>
                <a:spcPct val="100000"/>
              </a:lnSpc>
              <a:spcAft>
                <a:spcPts val="43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15   </a:t>
            </a: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Performance Evaluation</a:t>
            </a:r>
          </a:p>
          <a:p>
            <a:pPr marL="0" indent="0" algn="l">
              <a:lnSpc>
                <a:spcPct val="100000"/>
              </a:lnSpc>
              <a:spcAft>
                <a:spcPts val="43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16   </a:t>
            </a: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Screenshots / Working Demo</a:t>
            </a:r>
          </a:p>
          <a:p>
            <a:pPr marL="0" indent="0" algn="l">
              <a:lnSpc>
                <a:spcPct val="100000"/>
              </a:lnSpc>
              <a:spcAft>
                <a:spcPts val="43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17   </a:t>
            </a: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Comparison with Existing System</a:t>
            </a:r>
          </a:p>
          <a:p>
            <a:pPr marL="0" indent="0" algn="l">
              <a:lnSpc>
                <a:spcPct val="100000"/>
              </a:lnSpc>
              <a:spcAft>
                <a:spcPts val="43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18   </a:t>
            </a: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Challenges &amp; Solutions</a:t>
            </a:r>
          </a:p>
          <a:p>
            <a:pPr marL="0" indent="0" algn="l">
              <a:lnSpc>
                <a:spcPct val="100000"/>
              </a:lnSpc>
              <a:spcAft>
                <a:spcPts val="43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19   </a:t>
            </a: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Current Progress</a:t>
            </a:r>
          </a:p>
          <a:p>
            <a:pPr marL="0" indent="0" algn="l">
              <a:lnSpc>
                <a:spcPct val="100000"/>
              </a:lnSpc>
              <a:spcAft>
                <a:spcPts val="43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20   </a:t>
            </a: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Conclusion</a:t>
            </a:r>
          </a:p>
          <a:p>
            <a:pPr marL="0" indent="0" algn="l">
              <a:lnSpc>
                <a:spcPct val="100000"/>
              </a:lnSpc>
              <a:spcAft>
                <a:spcPts val="43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21   </a:t>
            </a: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Future Scope</a:t>
            </a:r>
          </a:p>
          <a:p>
            <a:pPr marL="0" indent="0" algn="l">
              <a:lnSpc>
                <a:spcPct val="100000"/>
              </a:lnSpc>
              <a:spcAft>
                <a:spcPts val="43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22   </a:t>
            </a: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6"/>
          <p:cNvSpPr/>
          <p:nvPr/>
        </p:nvSpPr>
        <p:spPr>
          <a:xfrm>
            <a:off x="3736848" y="221673"/>
            <a:ext cx="4718304" cy="51723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117" name="TextBox 118"/>
          <p:cNvSpPr txBox="1"/>
          <p:nvPr/>
        </p:nvSpPr>
        <p:spPr>
          <a:xfrm>
            <a:off x="3736848" y="221673"/>
            <a:ext cx="4718304" cy="517236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Abstract</a:t>
            </a:r>
          </a:p>
        </p:txBody>
      </p:sp>
      <p:sp>
        <p:nvSpPr>
          <p:cNvPr id="101" name="Shape 102"/>
          <p:cNvSpPr/>
          <p:nvPr/>
        </p:nvSpPr>
        <p:spPr>
          <a:xfrm>
            <a:off x="566928" y="1280160"/>
            <a:ext cx="4974336" cy="1191768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Overview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A polyglot microservices platform that automates attendance tracking across lecture, tutorial, practical and skill sessions.</a:t>
            </a:r>
          </a:p>
        </p:txBody>
      </p:sp>
      <p:sp>
        <p:nvSpPr>
          <p:cNvPr id="103" name="Shape 104"/>
          <p:cNvSpPr/>
          <p:nvPr/>
        </p:nvSpPr>
        <p:spPr>
          <a:xfrm>
            <a:off x="5742432" y="1280160"/>
            <a:ext cx="4974336" cy="1191768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Problem addressed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Manual, register-based attendance is slow, error-prone, and gives students no real-time visibility into their standing.</a:t>
            </a:r>
          </a:p>
        </p:txBody>
      </p:sp>
      <p:sp>
        <p:nvSpPr>
          <p:cNvPr id="105" name="Shape 106"/>
          <p:cNvSpPr/>
          <p:nvPr/>
        </p:nvSpPr>
        <p:spPr>
          <a:xfrm>
            <a:off x="566928" y="2673096"/>
            <a:ext cx="4974336" cy="1191768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Proposed solution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A FastAPI attendance service on a normalised PostgreSQL core, MongoDB event logs, and an optional pgvector face-embedding check-in mode.</a:t>
            </a:r>
          </a:p>
        </p:txBody>
      </p:sp>
      <p:sp>
        <p:nvSpPr>
          <p:cNvPr id="107" name="Shape 108"/>
          <p:cNvSpPr/>
          <p:nvPr/>
        </p:nvSpPr>
        <p:spPr>
          <a:xfrm>
            <a:off x="5742432" y="2673096"/>
            <a:ext cx="4974336" cy="1191768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Technologies / algorithms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LTPS-weighted scoring, HNSW approximate nearest-neighbour search, JWT + RBAC, and Saga-based compensation.</a:t>
            </a:r>
          </a:p>
        </p:txBody>
      </p:sp>
      <p:sp>
        <p:nvSpPr>
          <p:cNvPr id="109" name="Shape 110"/>
          <p:cNvSpPr/>
          <p:nvPr/>
        </p:nvSpPr>
        <p:spPr>
          <a:xfrm>
            <a:off x="566928" y="4066032"/>
            <a:ext cx="4974336" cy="1191768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Current status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Front-end dashboard and the relational + document schema are implemented against mock data; service-layer integration is in progress.</a:t>
            </a:r>
          </a:p>
        </p:txBody>
      </p:sp>
      <p:sp>
        <p:nvSpPr>
          <p:cNvPr id="111" name="Shape 112"/>
          <p:cNvSpPr/>
          <p:nvPr/>
        </p:nvSpPr>
        <p:spPr>
          <a:xfrm>
            <a:off x="5742432" y="4066032"/>
            <a:ext cx="4974336" cy="1191768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Expected outcome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An auditable, real-time attendance platform that applies the university's 75 / 85% policy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2"/>
          <p:cNvSpPr/>
          <p:nvPr/>
        </p:nvSpPr>
        <p:spPr>
          <a:xfrm>
            <a:off x="3736848" y="221673"/>
            <a:ext cx="4718304" cy="51723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133" name="TextBox 134"/>
          <p:cNvSpPr txBox="1"/>
          <p:nvPr/>
        </p:nvSpPr>
        <p:spPr>
          <a:xfrm>
            <a:off x="3736848" y="221673"/>
            <a:ext cx="4718304" cy="517236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Introduction</a:t>
            </a:r>
          </a:p>
        </p:txBody>
      </p:sp>
      <p:sp>
        <p:nvSpPr>
          <p:cNvPr id="121" name="Shape 122"/>
          <p:cNvSpPr/>
          <p:nvPr/>
        </p:nvSpPr>
        <p:spPr>
          <a:xfrm>
            <a:off x="566928" y="1280160"/>
            <a:ext cx="4974336" cy="170535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Existing problem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Attendance is marked manually per class, on paper or in disconnected spreadsheets, across dozens of sections.</a:t>
            </a:r>
          </a:p>
        </p:txBody>
      </p:sp>
      <p:sp>
        <p:nvSpPr>
          <p:cNvPr id="123" name="Shape 124"/>
          <p:cNvSpPr/>
          <p:nvPr/>
        </p:nvSpPr>
        <p:spPr>
          <a:xfrm>
            <a:off x="5742432" y="1280160"/>
            <a:ext cx="4974336" cy="170535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Affected parties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Faculty carry the marking overhead, students face disputed or lost records, and administration has no real-time visibility.</a:t>
            </a:r>
          </a:p>
        </p:txBody>
      </p:sp>
      <p:sp>
        <p:nvSpPr>
          <p:cNvPr id="125" name="Shape 126"/>
          <p:cNvSpPr/>
          <p:nvPr/>
        </p:nvSpPr>
        <p:spPr>
          <a:xfrm>
            <a:off x="566928" y="3186684"/>
            <a:ext cx="4974336" cy="170535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Why it matters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Attendance directly gates exam eligibility under the 75 / 85% policy — a single marking error has real academic consequences.</a:t>
            </a:r>
          </a:p>
        </p:txBody>
      </p:sp>
      <p:sp>
        <p:nvSpPr>
          <p:cNvPr id="127" name="Shape 128"/>
          <p:cNvSpPr/>
          <p:nvPr/>
        </p:nvSpPr>
        <p:spPr>
          <a:xfrm>
            <a:off x="5742432" y="3186684"/>
            <a:ext cx="4974336" cy="170535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Limitations today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No live dashboard, siloed per-faculty registers, and no early warning for students approaching the detention threshold.</a:t>
            </a:r>
          </a:p>
        </p:txBody>
      </p:sp>
      <p:sp>
        <p:nvSpPr>
          <p:cNvPr id="129" name="Shape 130"/>
          <p:cNvSpPr/>
          <p:nvPr/>
        </p:nvSpPr>
        <p:spPr>
          <a:xfrm>
            <a:off x="566928" y="5102352"/>
            <a:ext cx="10149840" cy="960120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</p:spPr>
        <p:txBody>
          <a:bodyPr wrap="square" lIns="274320" tIns="128016" rIns="274320" bIns="128016" rtlCol="0" anchor="ctr"/>
          <a:lstStyle/>
          <a:p>
            <a:pPr marL="0" indent="0" algn="l">
              <a:lnSpc>
                <a:spcPct val="100000"/>
              </a:lnSpc>
              <a:spcAft>
                <a:spcPts val="180"/>
              </a:spcAft>
              <a:buNone/>
            </a:pPr>
            <a:r>
              <a:rPr lang="en-US" sz="1100" b="1" i="0" dirty="0">
                <a:solidFill>
                  <a:srgbClr val="FFD9D9"/>
                </a:solidFill>
                <a:latin typeface="Calibri"/>
                <a:cs typeface="Calibri"/>
              </a:rPr>
              <a:t>PROPOSED DIRECTION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Build a service-oriented system that marks, stores and surfaces attendance in real time, with policy-aware analytics available to every student.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8"/>
          <p:cNvSpPr/>
          <p:nvPr/>
        </p:nvSpPr>
        <p:spPr>
          <a:xfrm>
            <a:off x="3736848" y="221673"/>
            <a:ext cx="4718304" cy="51723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149" name="TextBox 150"/>
          <p:cNvSpPr txBox="1"/>
          <p:nvPr/>
        </p:nvSpPr>
        <p:spPr>
          <a:xfrm>
            <a:off x="3736848" y="221673"/>
            <a:ext cx="4718304" cy="517236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Motivation</a:t>
            </a:r>
          </a:p>
        </p:txBody>
      </p:sp>
      <p:sp>
        <p:nvSpPr>
          <p:cNvPr id="137" name="Shape 138"/>
          <p:cNvSpPr/>
          <p:nvPr/>
        </p:nvSpPr>
        <p:spPr>
          <a:xfrm>
            <a:off x="566928" y="1280160"/>
            <a:ext cx="4974336" cy="1450848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Why this project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The team experienced the gaps in current attendance tooling first-hand and wanted hands-on practice with polyglot, microservice-based backend engineering.</a:t>
            </a:r>
          </a:p>
        </p:txBody>
      </p:sp>
      <p:sp>
        <p:nvSpPr>
          <p:cNvPr id="139" name="Shape 140"/>
          <p:cNvSpPr/>
          <p:nvPr/>
        </p:nvSpPr>
        <p:spPr>
          <a:xfrm>
            <a:off x="5742432" y="1280160"/>
            <a:ext cx="4974336" cy="1450848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Real-world importance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Attendance compliance affects exam eligibility for every student, every trimester, across the whole university.</a:t>
            </a:r>
          </a:p>
        </p:txBody>
      </p:sp>
      <p:sp>
        <p:nvSpPr>
          <p:cNvPr id="141" name="Shape 142"/>
          <p:cNvSpPr/>
          <p:nvPr/>
        </p:nvSpPr>
        <p:spPr>
          <a:xfrm>
            <a:off x="566928" y="2932176"/>
            <a:ext cx="4974336" cy="1450848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Need for automation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Manual processes do not scale past a few hundred students spread across many sections and instructors.</a:t>
            </a:r>
          </a:p>
        </p:txBody>
      </p:sp>
      <p:sp>
        <p:nvSpPr>
          <p:cNvPr id="143" name="Shape 144"/>
          <p:cNvSpPr/>
          <p:nvPr/>
        </p:nvSpPr>
        <p:spPr>
          <a:xfrm>
            <a:off x="5742432" y="2932176"/>
            <a:ext cx="4974336" cy="1450848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Expected benefits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Fewer disputed records, earlier alerts for students nearing the detention threshold, and time saved for faculty.</a:t>
            </a:r>
          </a:p>
        </p:txBody>
      </p:sp>
      <p:sp>
        <p:nvSpPr>
          <p:cNvPr id="145" name="Shape 146"/>
          <p:cNvSpPr/>
          <p:nvPr/>
        </p:nvSpPr>
        <p:spPr>
          <a:xfrm>
            <a:off x="566928" y="4584192"/>
            <a:ext cx="4974336" cy="1450848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Broader relevance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Academic (maps to CO1–CO6), industrial (production-grade backend skills) and social (fair, transparent records for every student).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6"/>
          <p:cNvSpPr/>
          <p:nvPr/>
        </p:nvSpPr>
        <p:spPr>
          <a:xfrm>
            <a:off x="3736848" y="221673"/>
            <a:ext cx="4718304" cy="51723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187" name="TextBox 188"/>
          <p:cNvSpPr txBox="1"/>
          <p:nvPr/>
        </p:nvSpPr>
        <p:spPr>
          <a:xfrm>
            <a:off x="3736848" y="221673"/>
            <a:ext cx="4718304" cy="517236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Literature Survey</a:t>
            </a:r>
          </a:p>
        </p:txBody>
      </p:sp>
      <p:sp>
        <p:nvSpPr>
          <p:cNvPr id="153" name="Shape 154"/>
          <p:cNvSpPr/>
          <p:nvPr/>
        </p:nvSpPr>
        <p:spPr>
          <a:xfrm>
            <a:off x="566928" y="1280160"/>
            <a:ext cx="2392070" cy="457200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Approach</a:t>
            </a:r>
          </a:p>
        </p:txBody>
      </p:sp>
      <p:sp>
        <p:nvSpPr>
          <p:cNvPr id="155" name="Shape 156"/>
          <p:cNvSpPr/>
          <p:nvPr/>
        </p:nvSpPr>
        <p:spPr>
          <a:xfrm>
            <a:off x="3050438" y="1280160"/>
            <a:ext cx="2591409" cy="457200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Typical technique</a:t>
            </a:r>
          </a:p>
        </p:txBody>
      </p:sp>
      <p:sp>
        <p:nvSpPr>
          <p:cNvPr id="157" name="Shape 158"/>
          <p:cNvSpPr/>
          <p:nvPr/>
        </p:nvSpPr>
        <p:spPr>
          <a:xfrm>
            <a:off x="5733287" y="1280160"/>
            <a:ext cx="4983480" cy="457200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Key limitation</a:t>
            </a:r>
          </a:p>
        </p:txBody>
      </p:sp>
      <p:sp>
        <p:nvSpPr>
          <p:cNvPr id="159" name="Shape 160"/>
          <p:cNvSpPr/>
          <p:nvPr/>
        </p:nvSpPr>
        <p:spPr>
          <a:xfrm>
            <a:off x="566928" y="1828800"/>
            <a:ext cx="2392070" cy="925830"/>
          </a:xfrm>
          <a:prstGeom prst="roundRect">
            <a:avLst>
              <a:gd name="adj" fmla="val 9000"/>
            </a:avLst>
          </a:prstGeom>
          <a:solidFill>
            <a:srgbClr val="EFE6E6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F1F1F"/>
                </a:solidFill>
                <a:latin typeface="Calibri"/>
                <a:cs typeface="Calibri"/>
              </a:rPr>
              <a:t>RFID / barcode check-in</a:t>
            </a:r>
          </a:p>
        </p:txBody>
      </p:sp>
      <p:sp>
        <p:nvSpPr>
          <p:cNvPr id="161" name="Shape 162"/>
          <p:cNvSpPr/>
          <p:nvPr/>
        </p:nvSpPr>
        <p:spPr>
          <a:xfrm>
            <a:off x="3050438" y="1828800"/>
            <a:ext cx="2591409" cy="92583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Card swipe at classroom entry</a:t>
            </a:r>
          </a:p>
        </p:txBody>
      </p:sp>
      <p:sp>
        <p:nvSpPr>
          <p:cNvPr id="163" name="Shape 164"/>
          <p:cNvSpPr/>
          <p:nvPr/>
        </p:nvSpPr>
        <p:spPr>
          <a:xfrm>
            <a:off x="5733287" y="1828800"/>
            <a:ext cx="4983480" cy="92583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Proxy attendance is still possible through card sharing; no real-time policy analytics</a:t>
            </a:r>
          </a:p>
        </p:txBody>
      </p:sp>
      <p:sp>
        <p:nvSpPr>
          <p:cNvPr id="165" name="Shape 166"/>
          <p:cNvSpPr/>
          <p:nvPr/>
        </p:nvSpPr>
        <p:spPr>
          <a:xfrm>
            <a:off x="566928" y="2846070"/>
            <a:ext cx="2392070" cy="925830"/>
          </a:xfrm>
          <a:prstGeom prst="roundRect">
            <a:avLst>
              <a:gd name="adj" fmla="val 9000"/>
            </a:avLst>
          </a:prstGeom>
          <a:solidFill>
            <a:srgbClr val="EFE6E6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F1F1F"/>
                </a:solidFill>
                <a:latin typeface="Calibri"/>
                <a:cs typeface="Calibri"/>
              </a:rPr>
              <a:t>Face-recognition attendance</a:t>
            </a:r>
          </a:p>
        </p:txBody>
      </p:sp>
      <p:sp>
        <p:nvSpPr>
          <p:cNvPr id="167" name="Shape 168"/>
          <p:cNvSpPr/>
          <p:nvPr/>
        </p:nvSpPr>
        <p:spPr>
          <a:xfrm>
            <a:off x="3050438" y="2846070"/>
            <a:ext cx="2591409" cy="92583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CNN classifier per enrolled student</a:t>
            </a:r>
          </a:p>
        </p:txBody>
      </p:sp>
      <p:sp>
        <p:nvSpPr>
          <p:cNvPr id="169" name="Shape 170"/>
          <p:cNvSpPr/>
          <p:nvPr/>
        </p:nvSpPr>
        <p:spPr>
          <a:xfrm>
            <a:off x="5733287" y="2846070"/>
            <a:ext cx="4983480" cy="92583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Needs frequent retraining; no approximate-search index, so it does not scale past small cohorts</a:t>
            </a:r>
          </a:p>
        </p:txBody>
      </p:sp>
      <p:sp>
        <p:nvSpPr>
          <p:cNvPr id="171" name="Shape 172"/>
          <p:cNvSpPr/>
          <p:nvPr/>
        </p:nvSpPr>
        <p:spPr>
          <a:xfrm>
            <a:off x="566928" y="3863340"/>
            <a:ext cx="2392070" cy="925830"/>
          </a:xfrm>
          <a:prstGeom prst="roundRect">
            <a:avLst>
              <a:gd name="adj" fmla="val 9000"/>
            </a:avLst>
          </a:prstGeom>
          <a:solidFill>
            <a:srgbClr val="EFE6E6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F1F1F"/>
                </a:solidFill>
                <a:latin typeface="Calibri"/>
                <a:cs typeface="Calibri"/>
              </a:rPr>
              <a:t>QR / mobile check-in apps</a:t>
            </a:r>
          </a:p>
        </p:txBody>
      </p:sp>
      <p:sp>
        <p:nvSpPr>
          <p:cNvPr id="173" name="Shape 174"/>
          <p:cNvSpPr/>
          <p:nvPr/>
        </p:nvSpPr>
        <p:spPr>
          <a:xfrm>
            <a:off x="3050438" y="3863340"/>
            <a:ext cx="2591409" cy="92583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Time-boxed QR code scanned in class</a:t>
            </a:r>
          </a:p>
        </p:txBody>
      </p:sp>
      <p:sp>
        <p:nvSpPr>
          <p:cNvPr id="175" name="Shape 176"/>
          <p:cNvSpPr/>
          <p:nvPr/>
        </p:nvSpPr>
        <p:spPr>
          <a:xfrm>
            <a:off x="5733287" y="3863340"/>
            <a:ext cx="4983480" cy="92583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Codes are easily shared between students; thin audit trail</a:t>
            </a:r>
          </a:p>
        </p:txBody>
      </p:sp>
      <p:sp>
        <p:nvSpPr>
          <p:cNvPr id="177" name="Shape 178"/>
          <p:cNvSpPr/>
          <p:nvPr/>
        </p:nvSpPr>
        <p:spPr>
          <a:xfrm>
            <a:off x="566928" y="4880610"/>
            <a:ext cx="2392070" cy="925830"/>
          </a:xfrm>
          <a:prstGeom prst="roundRect">
            <a:avLst>
              <a:gd name="adj" fmla="val 9000"/>
            </a:avLst>
          </a:prstGeom>
          <a:solidFill>
            <a:srgbClr val="EFE6E6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F1F1F"/>
                </a:solidFill>
                <a:latin typeface="Calibri"/>
                <a:cs typeface="Calibri"/>
              </a:rPr>
              <a:t>Cloud ERP attendance modules</a:t>
            </a:r>
          </a:p>
        </p:txBody>
      </p:sp>
      <p:sp>
        <p:nvSpPr>
          <p:cNvPr id="179" name="Shape 180"/>
          <p:cNvSpPr/>
          <p:nvPr/>
        </p:nvSpPr>
        <p:spPr>
          <a:xfrm>
            <a:off x="3050438" y="4880610"/>
            <a:ext cx="2591409" cy="92583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Vendor extension to the campus ERP</a:t>
            </a:r>
          </a:p>
        </p:txBody>
      </p:sp>
      <p:sp>
        <p:nvSpPr>
          <p:cNvPr id="181" name="Shape 182"/>
          <p:cNvSpPr/>
          <p:nvPr/>
        </p:nvSpPr>
        <p:spPr>
          <a:xfrm>
            <a:off x="5733287" y="4880610"/>
            <a:ext cx="4983480" cy="92583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Monolithic and tightly coupled; hard to extend with a new verification mode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6"/>
          <p:cNvSpPr/>
          <p:nvPr/>
        </p:nvSpPr>
        <p:spPr>
          <a:xfrm>
            <a:off x="3736848" y="221673"/>
            <a:ext cx="4718304" cy="51723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197" name="TextBox 198"/>
          <p:cNvSpPr txBox="1"/>
          <p:nvPr/>
        </p:nvSpPr>
        <p:spPr>
          <a:xfrm>
            <a:off x="3736848" y="221673"/>
            <a:ext cx="4718304" cy="517236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Research Gap</a:t>
            </a:r>
          </a:p>
        </p:txBody>
      </p:sp>
      <p:sp>
        <p:nvSpPr>
          <p:cNvPr id="191" name="Shape 192"/>
          <p:cNvSpPr/>
          <p:nvPr/>
        </p:nvSpPr>
        <p:spPr>
          <a:xfrm>
            <a:off x="566928" y="1280160"/>
            <a:ext cx="10149840" cy="324612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384048" tIns="274320" rIns="384048" bIns="274320" rtlCol="0" anchor="ctr"/>
          <a:lstStyle/>
          <a:p>
            <a:pPr marL="201168" indent="-201168" algn="l">
              <a:lnSpc>
                <a:spcPct val="104000"/>
              </a:lnSpc>
              <a:spcAft>
                <a:spcPts val="7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333333"/>
                </a:solidFill>
                <a:latin typeface="Calibri"/>
                <a:cs typeface="Calibri"/>
              </a:rPr>
              <a:t>Most systems use a single database for everything, with no separation between relational, event and vector data.</a:t>
            </a:r>
          </a:p>
          <a:p>
            <a:pPr marL="201168" indent="-201168" algn="l">
              <a:lnSpc>
                <a:spcPct val="104000"/>
              </a:lnSpc>
              <a:spcAft>
                <a:spcPts val="7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333333"/>
                </a:solidFill>
                <a:latin typeface="Calibri"/>
                <a:cs typeface="Calibri"/>
              </a:rPr>
              <a:t>Face-recognition systems rarely use approximate nearest-neighbour indexing, so they do not scale past small enrolments.</a:t>
            </a:r>
          </a:p>
          <a:p>
            <a:pPr marL="201168" indent="-201168" algn="l">
              <a:lnSpc>
                <a:spcPct val="104000"/>
              </a:lnSpc>
              <a:spcAft>
                <a:spcPts val="7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333333"/>
                </a:solidFill>
                <a:latin typeface="Calibri"/>
                <a:cs typeface="Calibri"/>
              </a:rPr>
              <a:t>Very few systems apply university-specific condonation / detention policy bands automatically.</a:t>
            </a:r>
          </a:p>
          <a:p>
            <a:pPr marL="201168" indent="-201168" algn="l">
              <a:lnSpc>
                <a:spcPct val="104000"/>
              </a:lnSpc>
              <a:spcAft>
                <a:spcPts val="7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333333"/>
                </a:solidFill>
                <a:latin typeface="Calibri"/>
                <a:cs typeface="Calibri"/>
              </a:rPr>
              <a:t>Existing tools give no ‘safe to miss’ or ‘must attend’ projection back to the student.</a:t>
            </a:r>
          </a:p>
        </p:txBody>
      </p:sp>
      <p:sp>
        <p:nvSpPr>
          <p:cNvPr id="193" name="Shape 194"/>
          <p:cNvSpPr/>
          <p:nvPr/>
        </p:nvSpPr>
        <p:spPr>
          <a:xfrm>
            <a:off x="566928" y="4754880"/>
            <a:ext cx="10149840" cy="1325880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</p:spPr>
        <p:txBody>
          <a:bodyPr wrap="square" lIns="274320" tIns="128016" rIns="274320" bIns="128016" rtlCol="0" anchor="ctr"/>
          <a:lstStyle/>
          <a:p>
            <a:pPr marL="0" indent="0" algn="l">
              <a:lnSpc>
                <a:spcPct val="100000"/>
              </a:lnSpc>
              <a:spcAft>
                <a:spcPts val="180"/>
              </a:spcAft>
              <a:buNone/>
            </a:pPr>
            <a:r>
              <a:rPr lang="en-US" sz="1100" b="1" i="0" dirty="0">
                <a:solidFill>
                  <a:srgbClr val="FFD9D9"/>
                </a:solidFill>
                <a:latin typeface="Calibri"/>
                <a:cs typeface="Calibri"/>
              </a:rPr>
              <a:t>RESEARCH GAP ADDRESSED BY SAMS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Existing attendance tools couple verification and storage tightly to a single database, and rarely expose policy-aware analytics to the student. SAMS separates relational, document and vector storage by access pattern, and computes LTPS-weighted zone projections in real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212"/>
          <p:cNvSpPr/>
          <p:nvPr/>
        </p:nvSpPr>
        <p:spPr>
          <a:xfrm>
            <a:off x="3736848" y="221673"/>
            <a:ext cx="4718304" cy="51723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213" name="TextBox 214"/>
          <p:cNvSpPr txBox="1"/>
          <p:nvPr/>
        </p:nvSpPr>
        <p:spPr>
          <a:xfrm>
            <a:off x="3736848" y="221673"/>
            <a:ext cx="4718304" cy="517236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Problem Statement</a:t>
            </a:r>
          </a:p>
        </p:txBody>
      </p:sp>
      <p:sp>
        <p:nvSpPr>
          <p:cNvPr id="201" name="Shape 202"/>
          <p:cNvSpPr/>
          <p:nvPr/>
        </p:nvSpPr>
        <p:spPr>
          <a:xfrm>
            <a:off x="566928" y="1280160"/>
            <a:ext cx="10149840" cy="1417320"/>
          </a:xfrm>
          <a:prstGeom prst="roundRect">
            <a:avLst>
              <a:gd name="adj" fmla="val 9000"/>
            </a:avLst>
          </a:prstGeom>
          <a:solidFill>
            <a:srgbClr val="EFE6E6"/>
          </a:solidFill>
          <a:ln>
            <a:noFill/>
          </a:ln>
        </p:spPr>
        <p:txBody>
          <a:bodyPr wrap="square" lIns="365760" tIns="219456" rIns="365760" bIns="219456" rtlCol="0" anchor="ctr"/>
          <a:lstStyle/>
          <a:p>
            <a:pPr marL="0" indent="0" algn="l">
              <a:lnSpc>
                <a:spcPct val="106000"/>
              </a:lnSpc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1F1F"/>
                </a:solidFill>
                <a:latin typeface="Calibri"/>
                <a:cs typeface="Calibri"/>
              </a:rPr>
              <a:t>Manual, register-based attendance cannot scale across dozens of sections — and under the 75 / 85% policy every marking error carries a real academic cost.</a:t>
            </a:r>
          </a:p>
        </p:txBody>
      </p:sp>
      <p:sp>
        <p:nvSpPr>
          <p:cNvPr id="203" name="Shape 204"/>
          <p:cNvSpPr/>
          <p:nvPr/>
        </p:nvSpPr>
        <p:spPr>
          <a:xfrm>
            <a:off x="566928" y="3017520"/>
            <a:ext cx="4974336" cy="140817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What must be solved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Record every check-in accurately and immediately, across lecture, tutorial, practical and skill sessions.</a:t>
            </a:r>
          </a:p>
        </p:txBody>
      </p:sp>
      <p:sp>
        <p:nvSpPr>
          <p:cNvPr id="205" name="Shape 206"/>
          <p:cNvSpPr/>
          <p:nvPr/>
        </p:nvSpPr>
        <p:spPr>
          <a:xfrm>
            <a:off x="5742432" y="3017520"/>
            <a:ext cx="4974336" cy="140817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Under what constraints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Multiple services and data stores must stay consistent, while keeping check-in latency low for live classes.</a:t>
            </a:r>
          </a:p>
        </p:txBody>
      </p:sp>
      <p:sp>
        <p:nvSpPr>
          <p:cNvPr id="207" name="Shape 208"/>
          <p:cNvSpPr/>
          <p:nvPr/>
        </p:nvSpPr>
        <p:spPr>
          <a:xfrm>
            <a:off x="566928" y="4626864"/>
            <a:ext cx="4974336" cy="140817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For whom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Students who need visibility on their standing, faculty who need to stop marking by hand, and administration that needs auditable records.</a:t>
            </a:r>
          </a:p>
        </p:txBody>
      </p:sp>
      <p:sp>
        <p:nvSpPr>
          <p:cNvPr id="209" name="Shape 210"/>
          <p:cNvSpPr/>
          <p:nvPr/>
        </p:nvSpPr>
        <p:spPr>
          <a:xfrm>
            <a:off x="5742432" y="4626864"/>
            <a:ext cx="4974336" cy="140817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Measured how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API latency, face-match precision and recall, sustained throughput, and correctness of the policy-zone calculation.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8"/>
          <p:cNvSpPr/>
          <p:nvPr/>
        </p:nvSpPr>
        <p:spPr>
          <a:xfrm>
            <a:off x="3736848" y="221673"/>
            <a:ext cx="4718304" cy="51723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249" name="TextBox 250"/>
          <p:cNvSpPr txBox="1"/>
          <p:nvPr/>
        </p:nvSpPr>
        <p:spPr>
          <a:xfrm>
            <a:off x="3736848" y="221673"/>
            <a:ext cx="4718304" cy="517236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Objectives</a:t>
            </a:r>
          </a:p>
        </p:txBody>
      </p:sp>
      <p:sp>
        <p:nvSpPr>
          <p:cNvPr id="217" name="Shape 218"/>
          <p:cNvSpPr/>
          <p:nvPr/>
        </p:nvSpPr>
        <p:spPr>
          <a:xfrm>
            <a:off x="566928" y="1280160"/>
            <a:ext cx="10149840" cy="833932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219" name="Shape 220"/>
          <p:cNvSpPr/>
          <p:nvPr/>
        </p:nvSpPr>
        <p:spPr>
          <a:xfrm>
            <a:off x="731520" y="1459382"/>
            <a:ext cx="475488" cy="4754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21" name="TextBox 222"/>
          <p:cNvSpPr txBox="1"/>
          <p:nvPr/>
        </p:nvSpPr>
        <p:spPr>
          <a:xfrm>
            <a:off x="1408176" y="1280160"/>
            <a:ext cx="9034272" cy="8339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Design a normalised relational schema for academic entities, paired with a document store for high-volume attendance events.</a:t>
            </a:r>
          </a:p>
        </p:txBody>
      </p:sp>
      <p:sp>
        <p:nvSpPr>
          <p:cNvPr id="223" name="Shape 224"/>
          <p:cNvSpPr/>
          <p:nvPr/>
        </p:nvSpPr>
        <p:spPr>
          <a:xfrm>
            <a:off x="566928" y="2260396"/>
            <a:ext cx="10149840" cy="833932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225" name="Shape 226"/>
          <p:cNvSpPr/>
          <p:nvPr/>
        </p:nvSpPr>
        <p:spPr>
          <a:xfrm>
            <a:off x="731520" y="2439618"/>
            <a:ext cx="475488" cy="4754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27" name="TextBox 228"/>
          <p:cNvSpPr txBox="1"/>
          <p:nvPr/>
        </p:nvSpPr>
        <p:spPr>
          <a:xfrm>
            <a:off x="1408176" y="2260396"/>
            <a:ext cx="9034272" cy="8339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Build a secure FastAPI service layer, with JWT and role-based access control, to mark and query attendance.</a:t>
            </a:r>
          </a:p>
        </p:txBody>
      </p:sp>
      <p:sp>
        <p:nvSpPr>
          <p:cNvPr id="229" name="Shape 230"/>
          <p:cNvSpPr/>
          <p:nvPr/>
        </p:nvSpPr>
        <p:spPr>
          <a:xfrm>
            <a:off x="566928" y="3240632"/>
            <a:ext cx="10149840" cy="833932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231" name="Shape 232"/>
          <p:cNvSpPr/>
          <p:nvPr/>
        </p:nvSpPr>
        <p:spPr>
          <a:xfrm>
            <a:off x="731520" y="3419854"/>
            <a:ext cx="475488" cy="4754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33" name="TextBox 234"/>
          <p:cNvSpPr txBox="1"/>
          <p:nvPr/>
        </p:nvSpPr>
        <p:spPr>
          <a:xfrm>
            <a:off x="1408176" y="3240632"/>
            <a:ext cx="9034272" cy="8339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Implement LTPS-weighted attendance analytics aligned to the university's condonation / detention policy bands.</a:t>
            </a:r>
          </a:p>
        </p:txBody>
      </p:sp>
      <p:sp>
        <p:nvSpPr>
          <p:cNvPr id="235" name="Shape 236"/>
          <p:cNvSpPr/>
          <p:nvPr/>
        </p:nvSpPr>
        <p:spPr>
          <a:xfrm>
            <a:off x="566928" y="4220868"/>
            <a:ext cx="10149840" cy="833932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237" name="Shape 238"/>
          <p:cNvSpPr/>
          <p:nvPr/>
        </p:nvSpPr>
        <p:spPr>
          <a:xfrm>
            <a:off x="731520" y="4400090"/>
            <a:ext cx="475488" cy="4754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39" name="TextBox 240"/>
          <p:cNvSpPr txBox="1"/>
          <p:nvPr/>
        </p:nvSpPr>
        <p:spPr>
          <a:xfrm>
            <a:off x="1408176" y="4220868"/>
            <a:ext cx="9034272" cy="8339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Deliver an interactive front-end dashboard with live class tracking and safe-to-miss projections.</a:t>
            </a:r>
          </a:p>
        </p:txBody>
      </p:sp>
      <p:sp>
        <p:nvSpPr>
          <p:cNvPr id="241" name="Shape 242"/>
          <p:cNvSpPr/>
          <p:nvPr/>
        </p:nvSpPr>
        <p:spPr>
          <a:xfrm>
            <a:off x="566928" y="5201104"/>
            <a:ext cx="10149840" cy="833932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243" name="Shape 244"/>
          <p:cNvSpPr/>
          <p:nvPr/>
        </p:nvSpPr>
        <p:spPr>
          <a:xfrm>
            <a:off x="731520" y="5380326"/>
            <a:ext cx="475488" cy="4754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45" name="TextBox 246"/>
          <p:cNvSpPr txBox="1"/>
          <p:nvPr/>
        </p:nvSpPr>
        <p:spPr>
          <a:xfrm>
            <a:off x="1408176" y="5201104"/>
            <a:ext cx="9034272" cy="8339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Explore face-embedding based verification as an optional biometric check-in mode using approximate nearest-neighbour search.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4"/>
          <p:cNvSpPr/>
          <p:nvPr/>
        </p:nvSpPr>
        <p:spPr>
          <a:xfrm>
            <a:off x="3736848" y="221673"/>
            <a:ext cx="4718304" cy="51723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285" name="TextBox 286"/>
          <p:cNvSpPr txBox="1"/>
          <p:nvPr/>
        </p:nvSpPr>
        <p:spPr>
          <a:xfrm>
            <a:off x="3736848" y="221673"/>
            <a:ext cx="4718304" cy="517236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Proposed Methodology</a:t>
            </a:r>
          </a:p>
        </p:txBody>
      </p:sp>
      <p:sp>
        <p:nvSpPr>
          <p:cNvPr id="287" name="TextBox 288"/>
          <p:cNvSpPr txBox="1"/>
          <p:nvPr/>
        </p:nvSpPr>
        <p:spPr>
          <a:xfrm>
            <a:off x="566928" y="1033272"/>
            <a:ext cx="10149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C00000"/>
                </a:solidFill>
                <a:latin typeface="Calibri"/>
                <a:cs typeface="Calibri"/>
              </a:rPr>
              <a:t>INPUT → PREPROCESSING → ALGORITHM → PROCESSING → OUTPUT → EVALUATION</a:t>
            </a:r>
          </a:p>
        </p:txBody>
      </p:sp>
      <p:sp>
        <p:nvSpPr>
          <p:cNvPr id="253" name="Shape 254"/>
          <p:cNvSpPr/>
          <p:nvPr/>
        </p:nvSpPr>
        <p:spPr>
          <a:xfrm>
            <a:off x="566928" y="1280160"/>
            <a:ext cx="1463040" cy="160020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0000"/>
              </a:lnSpc>
              <a:spcAft>
                <a:spcPts val="17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Input</a:t>
            </a:r>
          </a:p>
          <a:p>
            <a:pPr marL="0" indent="0" algn="ctr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333333"/>
                </a:solidFill>
                <a:latin typeface="Calibri"/>
                <a:cs typeface="Calibri"/>
              </a:rPr>
              <a:t>Session, student, timestamp, optional embedding</a:t>
            </a:r>
          </a:p>
        </p:txBody>
      </p:sp>
      <p:sp>
        <p:nvSpPr>
          <p:cNvPr id="255" name="Shape 256"/>
          <p:cNvSpPr/>
          <p:nvPr/>
        </p:nvSpPr>
        <p:spPr>
          <a:xfrm>
            <a:off x="2029968" y="1961388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C00000"/>
                </a:solidFill>
                <a:latin typeface="Calibri"/>
                <a:cs typeface="Calibri"/>
              </a:rPr>
              <a:t>→</a:t>
            </a:r>
          </a:p>
        </p:txBody>
      </p:sp>
      <p:sp>
        <p:nvSpPr>
          <p:cNvPr id="257" name="Shape 258"/>
          <p:cNvSpPr/>
          <p:nvPr/>
        </p:nvSpPr>
        <p:spPr>
          <a:xfrm>
            <a:off x="2304288" y="1280160"/>
            <a:ext cx="1463040" cy="160020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0000"/>
              </a:lnSpc>
              <a:spcAft>
                <a:spcPts val="17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Preprocessing</a:t>
            </a:r>
          </a:p>
          <a:p>
            <a:pPr marL="0" indent="0" algn="ctr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333333"/>
                </a:solidFill>
                <a:latin typeface="Calibri"/>
                <a:cs typeface="Calibri"/>
              </a:rPr>
              <a:t>JWT auth, RBAC and enrolment validation</a:t>
            </a:r>
          </a:p>
        </p:txBody>
      </p:sp>
      <p:sp>
        <p:nvSpPr>
          <p:cNvPr id="259" name="Shape 260"/>
          <p:cNvSpPr/>
          <p:nvPr/>
        </p:nvSpPr>
        <p:spPr>
          <a:xfrm>
            <a:off x="3767328" y="1961388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C00000"/>
                </a:solidFill>
                <a:latin typeface="Calibri"/>
                <a:cs typeface="Calibri"/>
              </a:rPr>
              <a:t>→</a:t>
            </a:r>
          </a:p>
        </p:txBody>
      </p:sp>
      <p:sp>
        <p:nvSpPr>
          <p:cNvPr id="261" name="Shape 262"/>
          <p:cNvSpPr/>
          <p:nvPr/>
        </p:nvSpPr>
        <p:spPr>
          <a:xfrm>
            <a:off x="4041648" y="1280160"/>
            <a:ext cx="1463040" cy="160020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0000"/>
              </a:lnSpc>
              <a:spcAft>
                <a:spcPts val="17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Algorithm</a:t>
            </a:r>
          </a:p>
          <a:p>
            <a:pPr marL="0" indent="0" algn="ctr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333333"/>
                </a:solidFill>
                <a:latin typeface="Calibri"/>
                <a:cs typeface="Calibri"/>
              </a:rPr>
              <a:t>LTPS scoring; optional HNSW similarity search</a:t>
            </a:r>
          </a:p>
        </p:txBody>
      </p:sp>
      <p:sp>
        <p:nvSpPr>
          <p:cNvPr id="263" name="Shape 264"/>
          <p:cNvSpPr/>
          <p:nvPr/>
        </p:nvSpPr>
        <p:spPr>
          <a:xfrm>
            <a:off x="5504688" y="1961388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C00000"/>
                </a:solidFill>
                <a:latin typeface="Calibri"/>
                <a:cs typeface="Calibri"/>
              </a:rPr>
              <a:t>→</a:t>
            </a:r>
          </a:p>
        </p:txBody>
      </p:sp>
      <p:sp>
        <p:nvSpPr>
          <p:cNvPr id="265" name="Shape 266"/>
          <p:cNvSpPr/>
          <p:nvPr/>
        </p:nvSpPr>
        <p:spPr>
          <a:xfrm>
            <a:off x="5779008" y="1280160"/>
            <a:ext cx="1463040" cy="160020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0000"/>
              </a:lnSpc>
              <a:spcAft>
                <a:spcPts val="17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Processing</a:t>
            </a:r>
          </a:p>
          <a:p>
            <a:pPr marL="0" indent="0" algn="ctr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333333"/>
                </a:solidFill>
                <a:latin typeface="Calibri"/>
                <a:cs typeface="Calibri"/>
              </a:rPr>
              <a:t>Write-through to Postgres + Mongo, Saga compensation</a:t>
            </a:r>
          </a:p>
        </p:txBody>
      </p:sp>
      <p:sp>
        <p:nvSpPr>
          <p:cNvPr id="267" name="Shape 268"/>
          <p:cNvSpPr/>
          <p:nvPr/>
        </p:nvSpPr>
        <p:spPr>
          <a:xfrm>
            <a:off x="7242048" y="1961388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C00000"/>
                </a:solidFill>
                <a:latin typeface="Calibri"/>
                <a:cs typeface="Calibri"/>
              </a:rPr>
              <a:t>→</a:t>
            </a:r>
          </a:p>
        </p:txBody>
      </p:sp>
      <p:sp>
        <p:nvSpPr>
          <p:cNvPr id="269" name="Shape 270"/>
          <p:cNvSpPr/>
          <p:nvPr/>
        </p:nvSpPr>
        <p:spPr>
          <a:xfrm>
            <a:off x="7516368" y="1280160"/>
            <a:ext cx="1463040" cy="160020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0000"/>
              </a:lnSpc>
              <a:spcAft>
                <a:spcPts val="17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Output</a:t>
            </a:r>
          </a:p>
          <a:p>
            <a:pPr marL="0" indent="0" algn="ctr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333333"/>
                </a:solidFill>
                <a:latin typeface="Calibri"/>
                <a:cs typeface="Calibri"/>
              </a:rPr>
              <a:t>Attendance %, policy zone, live dashboard update</a:t>
            </a:r>
          </a:p>
        </p:txBody>
      </p:sp>
      <p:sp>
        <p:nvSpPr>
          <p:cNvPr id="271" name="Shape 272"/>
          <p:cNvSpPr/>
          <p:nvPr/>
        </p:nvSpPr>
        <p:spPr>
          <a:xfrm>
            <a:off x="8979408" y="1961388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C00000"/>
                </a:solidFill>
                <a:latin typeface="Calibri"/>
                <a:cs typeface="Calibri"/>
              </a:rPr>
              <a:t>→</a:t>
            </a:r>
          </a:p>
        </p:txBody>
      </p:sp>
      <p:sp>
        <p:nvSpPr>
          <p:cNvPr id="273" name="Shape 274"/>
          <p:cNvSpPr/>
          <p:nvPr/>
        </p:nvSpPr>
        <p:spPr>
          <a:xfrm>
            <a:off x="9253728" y="1280160"/>
            <a:ext cx="1463040" cy="160020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0000"/>
              </a:lnSpc>
              <a:spcAft>
                <a:spcPts val="17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Evaluation</a:t>
            </a:r>
          </a:p>
          <a:p>
            <a:pPr marL="0" indent="0" algn="ctr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333333"/>
                </a:solidFill>
                <a:latin typeface="Calibri"/>
                <a:cs typeface="Calibri"/>
              </a:rPr>
              <a:t>Latency, precision / recall, throughput</a:t>
            </a:r>
          </a:p>
        </p:txBody>
      </p:sp>
      <p:sp>
        <p:nvSpPr>
          <p:cNvPr id="275" name="Shape 276"/>
          <p:cNvSpPr/>
          <p:nvPr/>
        </p:nvSpPr>
        <p:spPr>
          <a:xfrm>
            <a:off x="566928" y="3154680"/>
            <a:ext cx="4974336" cy="133959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Input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A check-in carries the session ID, student ID and a timestamp — and, in biometric mode, a 512-dimension face embedding.</a:t>
            </a:r>
          </a:p>
        </p:txBody>
      </p:sp>
      <p:sp>
        <p:nvSpPr>
          <p:cNvPr id="277" name="Shape 278"/>
          <p:cNvSpPr/>
          <p:nvPr/>
        </p:nvSpPr>
        <p:spPr>
          <a:xfrm>
            <a:off x="5742432" y="3154680"/>
            <a:ext cx="4974336" cy="133959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Preprocessing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The API Gateway verifies the JWT, checks the caller's role, and confirms the student is enrolled in that session.</a:t>
            </a:r>
          </a:p>
        </p:txBody>
      </p:sp>
      <p:sp>
        <p:nvSpPr>
          <p:cNvPr id="279" name="Shape 280"/>
          <p:cNvSpPr/>
          <p:nvPr/>
        </p:nvSpPr>
        <p:spPr>
          <a:xfrm>
            <a:off x="566928" y="4695444"/>
            <a:ext cx="4974336" cy="133959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Algorithm / model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LTPS-weighted attendance scoring runs on every event; an optional HNSW nearest-neighbour search verifies identity.</a:t>
            </a:r>
          </a:p>
        </p:txBody>
      </p:sp>
      <p:sp>
        <p:nvSpPr>
          <p:cNvPr id="281" name="Shape 282"/>
          <p:cNvSpPr/>
          <p:nvPr/>
        </p:nvSpPr>
        <p:spPr>
          <a:xfrm>
            <a:off x="5742432" y="4695444"/>
            <a:ext cx="4974336" cy="133959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Processing &amp; output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Postgres and MongoDB are updated together with Saga-based compensation on partial failure; the dashboard reflects the change immediately.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2"/>
          <p:cNvSpPr/>
          <p:nvPr/>
        </p:nvSpPr>
        <p:spPr>
          <a:xfrm>
            <a:off x="3736848" y="221673"/>
            <a:ext cx="4718304" cy="51723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313" name="TextBox 314"/>
          <p:cNvSpPr txBox="1"/>
          <p:nvPr/>
        </p:nvSpPr>
        <p:spPr>
          <a:xfrm>
            <a:off x="3736848" y="221673"/>
            <a:ext cx="4718304" cy="517236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System Architecture</a:t>
            </a:r>
          </a:p>
        </p:txBody>
      </p:sp>
      <p:sp>
        <p:nvSpPr>
          <p:cNvPr id="289" name="Shape 290"/>
          <p:cNvSpPr/>
          <p:nvPr/>
        </p:nvSpPr>
        <p:spPr>
          <a:xfrm>
            <a:off x="566928" y="1280160"/>
            <a:ext cx="2331720" cy="114300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0000"/>
              </a:lnSpc>
              <a:spcAft>
                <a:spcPts val="17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Client</a:t>
            </a:r>
          </a:p>
          <a:p>
            <a:pPr marL="0" indent="0" algn="ctr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333333"/>
                </a:solidFill>
                <a:latin typeface="Calibri"/>
                <a:cs typeface="Calibri"/>
              </a:rPr>
              <a:t>Web / mobile app</a:t>
            </a:r>
          </a:p>
        </p:txBody>
      </p:sp>
      <p:sp>
        <p:nvSpPr>
          <p:cNvPr id="291" name="Shape 292"/>
          <p:cNvSpPr/>
          <p:nvPr/>
        </p:nvSpPr>
        <p:spPr>
          <a:xfrm>
            <a:off x="2898648" y="1732788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C00000"/>
                </a:solidFill>
                <a:latin typeface="Calibri"/>
                <a:cs typeface="Calibri"/>
              </a:rPr>
              <a:t>→</a:t>
            </a:r>
          </a:p>
        </p:txBody>
      </p:sp>
      <p:sp>
        <p:nvSpPr>
          <p:cNvPr id="293" name="Shape 294"/>
          <p:cNvSpPr/>
          <p:nvPr/>
        </p:nvSpPr>
        <p:spPr>
          <a:xfrm>
            <a:off x="3172968" y="1280160"/>
            <a:ext cx="2331720" cy="114300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0000"/>
              </a:lnSpc>
              <a:spcAft>
                <a:spcPts val="17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API Gateway</a:t>
            </a:r>
          </a:p>
          <a:p>
            <a:pPr marL="0" indent="0" algn="ctr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333333"/>
                </a:solidFill>
                <a:latin typeface="Calibri"/>
                <a:cs typeface="Calibri"/>
              </a:rPr>
              <a:t>FastAPI · routing, JWT</a:t>
            </a:r>
          </a:p>
        </p:txBody>
      </p:sp>
      <p:sp>
        <p:nvSpPr>
          <p:cNvPr id="295" name="Shape 296"/>
          <p:cNvSpPr/>
          <p:nvPr/>
        </p:nvSpPr>
        <p:spPr>
          <a:xfrm>
            <a:off x="5504688" y="1732788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C00000"/>
                </a:solidFill>
                <a:latin typeface="Calibri"/>
                <a:cs typeface="Calibri"/>
              </a:rPr>
              <a:t>→</a:t>
            </a:r>
          </a:p>
        </p:txBody>
      </p:sp>
      <p:sp>
        <p:nvSpPr>
          <p:cNvPr id="297" name="Shape 298"/>
          <p:cNvSpPr/>
          <p:nvPr/>
        </p:nvSpPr>
        <p:spPr>
          <a:xfrm>
            <a:off x="5779008" y="1280160"/>
            <a:ext cx="2331720" cy="114300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0000"/>
              </a:lnSpc>
              <a:spcAft>
                <a:spcPts val="17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Services</a:t>
            </a:r>
          </a:p>
          <a:p>
            <a:pPr marL="0" indent="0" algn="ctr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333333"/>
                </a:solidFill>
                <a:latin typeface="Calibri"/>
                <a:cs typeface="Calibri"/>
              </a:rPr>
              <a:t>FastAPI / Node / Spring</a:t>
            </a:r>
          </a:p>
        </p:txBody>
      </p:sp>
      <p:sp>
        <p:nvSpPr>
          <p:cNvPr id="299" name="Shape 300"/>
          <p:cNvSpPr/>
          <p:nvPr/>
        </p:nvSpPr>
        <p:spPr>
          <a:xfrm>
            <a:off x="8110728" y="1732788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C00000"/>
                </a:solidFill>
                <a:latin typeface="Calibri"/>
                <a:cs typeface="Calibri"/>
              </a:rPr>
              <a:t>→</a:t>
            </a:r>
          </a:p>
        </p:txBody>
      </p:sp>
      <p:sp>
        <p:nvSpPr>
          <p:cNvPr id="301" name="Shape 302"/>
          <p:cNvSpPr/>
          <p:nvPr/>
        </p:nvSpPr>
        <p:spPr>
          <a:xfrm>
            <a:off x="8385048" y="1280160"/>
            <a:ext cx="2331720" cy="114300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0000"/>
              </a:lnSpc>
              <a:spcAft>
                <a:spcPts val="17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Data layer</a:t>
            </a:r>
          </a:p>
          <a:p>
            <a:pPr marL="0" indent="0" algn="ctr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333333"/>
                </a:solidFill>
                <a:latin typeface="Calibri"/>
                <a:cs typeface="Calibri"/>
              </a:rPr>
              <a:t>Postgres · Mongo · pgvector</a:t>
            </a:r>
          </a:p>
        </p:txBody>
      </p:sp>
      <p:sp>
        <p:nvSpPr>
          <p:cNvPr id="303" name="Shape 304"/>
          <p:cNvSpPr/>
          <p:nvPr/>
        </p:nvSpPr>
        <p:spPr>
          <a:xfrm>
            <a:off x="566928" y="2743200"/>
            <a:ext cx="3249168" cy="178308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50" b="1" i="0" dirty="0">
                <a:solidFill>
                  <a:srgbClr val="C00000"/>
                </a:solidFill>
                <a:latin typeface="Calibri"/>
                <a:cs typeface="Calibri"/>
              </a:rPr>
              <a:t>Attendance service · FastAPI + SQLAlchemy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Marks attendance, computes LTPS, owns Postgres.</a:t>
            </a:r>
          </a:p>
        </p:txBody>
      </p:sp>
      <p:sp>
        <p:nvSpPr>
          <p:cNvPr id="305" name="Shape 306"/>
          <p:cNvSpPr/>
          <p:nvPr/>
        </p:nvSpPr>
        <p:spPr>
          <a:xfrm>
            <a:off x="4017264" y="2743200"/>
            <a:ext cx="3249168" cy="178308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50" b="1" i="0" dirty="0">
                <a:solidFill>
                  <a:srgbClr val="C00000"/>
                </a:solidFill>
                <a:latin typeface="Calibri"/>
                <a:cs typeface="Calibri"/>
              </a:rPr>
              <a:t>Session service · Node.js + Socket.io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Live session state and notifications, owns MongoDB.</a:t>
            </a:r>
          </a:p>
        </p:txBody>
      </p:sp>
      <p:sp>
        <p:nvSpPr>
          <p:cNvPr id="307" name="Shape 308"/>
          <p:cNvSpPr/>
          <p:nvPr/>
        </p:nvSpPr>
        <p:spPr>
          <a:xfrm>
            <a:off x="7467600" y="2743200"/>
            <a:ext cx="3249168" cy="178308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50" b="1" i="0" dirty="0">
                <a:solidFill>
                  <a:srgbClr val="C00000"/>
                </a:solidFill>
                <a:latin typeface="Calibri"/>
                <a:cs typeface="Calibri"/>
              </a:rPr>
              <a:t>Reporting service · Spring Boot + JPA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Aggregates and exports attendance analytics.</a:t>
            </a:r>
          </a:p>
        </p:txBody>
      </p:sp>
      <p:sp>
        <p:nvSpPr>
          <p:cNvPr id="309" name="Shape 310"/>
          <p:cNvSpPr/>
          <p:nvPr/>
        </p:nvSpPr>
        <p:spPr>
          <a:xfrm>
            <a:off x="566928" y="4754880"/>
            <a:ext cx="10149840" cy="1005840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</p:spPr>
        <p:txBody>
          <a:bodyPr wrap="square" lIns="274320" tIns="128016" rIns="274320" bIns="128016" rtlCol="0" anchor="ctr"/>
          <a:lstStyle/>
          <a:p>
            <a:pPr marL="0" indent="0" algn="l">
              <a:lnSpc>
                <a:spcPct val="100000"/>
              </a:lnSpc>
              <a:spcAft>
                <a:spcPts val="180"/>
              </a:spcAft>
              <a:buNone/>
            </a:pPr>
            <a:r>
              <a:rPr lang="en-US" sz="1100" b="1" i="0" dirty="0">
                <a:solidFill>
                  <a:srgbClr val="FFD9D9"/>
                </a:solidFill>
                <a:latin typeface="Calibri"/>
                <a:cs typeface="Calibri"/>
              </a:rPr>
              <a:t>RESILIENCE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Cross-service writes use Saga-based compensating actions on partial failure, and each service owns its own database, following a database-per-service pattern.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370"/>
          <p:cNvSpPr/>
          <p:nvPr/>
        </p:nvSpPr>
        <p:spPr>
          <a:xfrm>
            <a:off x="3736848" y="221673"/>
            <a:ext cx="4718304" cy="51723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371" name="TextBox 372"/>
          <p:cNvSpPr txBox="1"/>
          <p:nvPr/>
        </p:nvSpPr>
        <p:spPr>
          <a:xfrm>
            <a:off x="3736848" y="221673"/>
            <a:ext cx="4718304" cy="517236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Technologies Used</a:t>
            </a:r>
          </a:p>
        </p:txBody>
      </p:sp>
      <p:sp>
        <p:nvSpPr>
          <p:cNvPr id="317" name="Shape 318"/>
          <p:cNvSpPr/>
          <p:nvPr/>
        </p:nvSpPr>
        <p:spPr>
          <a:xfrm>
            <a:off x="566928" y="1280160"/>
            <a:ext cx="10149840" cy="105156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319" name="TextBox 320"/>
          <p:cNvSpPr txBox="1"/>
          <p:nvPr/>
        </p:nvSpPr>
        <p:spPr>
          <a:xfrm>
            <a:off x="822960" y="128016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Languages &amp; frameworks</a:t>
            </a:r>
          </a:p>
        </p:txBody>
      </p:sp>
      <p:sp>
        <p:nvSpPr>
          <p:cNvPr id="321" name="Shape 322"/>
          <p:cNvSpPr/>
          <p:nvPr/>
        </p:nvSpPr>
        <p:spPr>
          <a:xfrm>
            <a:off x="3310128" y="1613916"/>
            <a:ext cx="1330452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7C7"/>
            </a:solidFill>
          </a:ln>
        </p:spPr>
        <p:txBody>
          <a:bodyPr wrap="square" lIns="45720" tIns="18288" rIns="45720" bIns="18288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1F1F"/>
                </a:solidFill>
                <a:latin typeface="Calibri"/>
                <a:cs typeface="Calibri"/>
              </a:rPr>
              <a:t>Python 3.11</a:t>
            </a:r>
          </a:p>
        </p:txBody>
      </p:sp>
      <p:sp>
        <p:nvSpPr>
          <p:cNvPr id="323" name="Shape 324"/>
          <p:cNvSpPr/>
          <p:nvPr/>
        </p:nvSpPr>
        <p:spPr>
          <a:xfrm>
            <a:off x="4768596" y="1613916"/>
            <a:ext cx="946404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7C7"/>
            </a:solidFill>
          </a:ln>
        </p:spPr>
        <p:txBody>
          <a:bodyPr wrap="square" lIns="45720" tIns="18288" rIns="45720" bIns="18288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1F1F"/>
                </a:solidFill>
                <a:latin typeface="Calibri"/>
                <a:cs typeface="Calibri"/>
              </a:rPr>
              <a:t>FastAPI</a:t>
            </a:r>
          </a:p>
        </p:txBody>
      </p:sp>
      <p:sp>
        <p:nvSpPr>
          <p:cNvPr id="325" name="Shape 326"/>
          <p:cNvSpPr/>
          <p:nvPr/>
        </p:nvSpPr>
        <p:spPr>
          <a:xfrm>
            <a:off x="5843016" y="1613916"/>
            <a:ext cx="1906524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7C7"/>
            </a:solidFill>
          </a:ln>
        </p:spPr>
        <p:txBody>
          <a:bodyPr wrap="square" lIns="45720" tIns="18288" rIns="45720" bIns="18288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1F1F"/>
                </a:solidFill>
                <a:latin typeface="Calibri"/>
                <a:cs typeface="Calibri"/>
              </a:rPr>
              <a:t>Node.js / Express</a:t>
            </a:r>
          </a:p>
        </p:txBody>
      </p:sp>
      <p:sp>
        <p:nvSpPr>
          <p:cNvPr id="327" name="Shape 328"/>
          <p:cNvSpPr/>
          <p:nvPr/>
        </p:nvSpPr>
        <p:spPr>
          <a:xfrm>
            <a:off x="7877556" y="1613916"/>
            <a:ext cx="1330452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7C7"/>
            </a:solidFill>
          </a:ln>
        </p:spPr>
        <p:txBody>
          <a:bodyPr wrap="square" lIns="45720" tIns="18288" rIns="45720" bIns="18288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1F1F"/>
                </a:solidFill>
                <a:latin typeface="Calibri"/>
                <a:cs typeface="Calibri"/>
              </a:rPr>
              <a:t>Spring Boot</a:t>
            </a:r>
          </a:p>
        </p:txBody>
      </p:sp>
      <p:sp>
        <p:nvSpPr>
          <p:cNvPr id="329" name="Shape 330"/>
          <p:cNvSpPr/>
          <p:nvPr/>
        </p:nvSpPr>
        <p:spPr>
          <a:xfrm>
            <a:off x="9336024" y="1613916"/>
            <a:ext cx="1042416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7C7"/>
            </a:solidFill>
          </a:ln>
        </p:spPr>
        <p:txBody>
          <a:bodyPr wrap="square" lIns="45720" tIns="18288" rIns="45720" bIns="18288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1F1F"/>
                </a:solidFill>
                <a:latin typeface="Calibri"/>
                <a:cs typeface="Calibri"/>
              </a:rPr>
              <a:t>React 18</a:t>
            </a:r>
          </a:p>
        </p:txBody>
      </p:sp>
      <p:sp>
        <p:nvSpPr>
          <p:cNvPr id="331" name="Shape 332"/>
          <p:cNvSpPr/>
          <p:nvPr/>
        </p:nvSpPr>
        <p:spPr>
          <a:xfrm>
            <a:off x="566928" y="2514600"/>
            <a:ext cx="10149840" cy="105156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333" name="TextBox 334"/>
          <p:cNvSpPr txBox="1"/>
          <p:nvPr/>
        </p:nvSpPr>
        <p:spPr>
          <a:xfrm>
            <a:off x="822960" y="251460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Data stores</a:t>
            </a:r>
          </a:p>
        </p:txBody>
      </p:sp>
      <p:sp>
        <p:nvSpPr>
          <p:cNvPr id="335" name="Shape 336"/>
          <p:cNvSpPr/>
          <p:nvPr/>
        </p:nvSpPr>
        <p:spPr>
          <a:xfrm>
            <a:off x="3310128" y="2848356"/>
            <a:ext cx="1522476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7C7"/>
            </a:solidFill>
          </a:ln>
        </p:spPr>
        <p:txBody>
          <a:bodyPr wrap="square" lIns="45720" tIns="18288" rIns="45720" bIns="18288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1F1F"/>
                </a:solidFill>
                <a:latin typeface="Calibri"/>
                <a:cs typeface="Calibri"/>
              </a:rPr>
              <a:t>PostgreSQL 15</a:t>
            </a:r>
          </a:p>
        </p:txBody>
      </p:sp>
      <p:sp>
        <p:nvSpPr>
          <p:cNvPr id="337" name="Shape 338"/>
          <p:cNvSpPr/>
          <p:nvPr/>
        </p:nvSpPr>
        <p:spPr>
          <a:xfrm>
            <a:off x="4960620" y="2848356"/>
            <a:ext cx="1138428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7C7"/>
            </a:solidFill>
          </a:ln>
        </p:spPr>
        <p:txBody>
          <a:bodyPr wrap="square" lIns="45720" tIns="18288" rIns="45720" bIns="18288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1F1F"/>
                </a:solidFill>
                <a:latin typeface="Calibri"/>
                <a:cs typeface="Calibri"/>
              </a:rPr>
              <a:t>MongoDB 6</a:t>
            </a:r>
          </a:p>
        </p:txBody>
      </p:sp>
      <p:sp>
        <p:nvSpPr>
          <p:cNvPr id="339" name="Shape 340"/>
          <p:cNvSpPr/>
          <p:nvPr/>
        </p:nvSpPr>
        <p:spPr>
          <a:xfrm>
            <a:off x="6227064" y="2848356"/>
            <a:ext cx="1714500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7C7"/>
            </a:solidFill>
          </a:ln>
        </p:spPr>
        <p:txBody>
          <a:bodyPr wrap="square" lIns="45720" tIns="18288" rIns="45720" bIns="18288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1F1F"/>
                </a:solidFill>
                <a:latin typeface="Calibri"/>
                <a:cs typeface="Calibri"/>
              </a:rPr>
              <a:t>pgvector (HNSW)</a:t>
            </a:r>
          </a:p>
        </p:txBody>
      </p:sp>
      <p:sp>
        <p:nvSpPr>
          <p:cNvPr id="341" name="Shape 342"/>
          <p:cNvSpPr/>
          <p:nvPr/>
        </p:nvSpPr>
        <p:spPr>
          <a:xfrm>
            <a:off x="566928" y="3749040"/>
            <a:ext cx="10149840" cy="105156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343" name="TextBox 344"/>
          <p:cNvSpPr txBox="1"/>
          <p:nvPr/>
        </p:nvSpPr>
        <p:spPr>
          <a:xfrm>
            <a:off x="822960" y="374904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Security</a:t>
            </a:r>
          </a:p>
        </p:txBody>
      </p:sp>
      <p:sp>
        <p:nvSpPr>
          <p:cNvPr id="345" name="Shape 346"/>
          <p:cNvSpPr/>
          <p:nvPr/>
        </p:nvSpPr>
        <p:spPr>
          <a:xfrm>
            <a:off x="3310128" y="4082796"/>
            <a:ext cx="562356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7C7"/>
            </a:solidFill>
          </a:ln>
        </p:spPr>
        <p:txBody>
          <a:bodyPr wrap="square" lIns="45720" tIns="18288" rIns="45720" bIns="18288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1F1F"/>
                </a:solidFill>
                <a:latin typeface="Calibri"/>
                <a:cs typeface="Calibri"/>
              </a:rPr>
              <a:t>JWT</a:t>
            </a:r>
          </a:p>
        </p:txBody>
      </p:sp>
      <p:sp>
        <p:nvSpPr>
          <p:cNvPr id="347" name="Shape 348"/>
          <p:cNvSpPr/>
          <p:nvPr/>
        </p:nvSpPr>
        <p:spPr>
          <a:xfrm>
            <a:off x="4000500" y="4082796"/>
            <a:ext cx="850392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7C7"/>
            </a:solidFill>
          </a:ln>
        </p:spPr>
        <p:txBody>
          <a:bodyPr wrap="square" lIns="45720" tIns="18288" rIns="45720" bIns="18288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1F1F"/>
                </a:solidFill>
                <a:latin typeface="Calibri"/>
                <a:cs typeface="Calibri"/>
              </a:rPr>
              <a:t>OAuth2</a:t>
            </a:r>
          </a:p>
        </p:txBody>
      </p:sp>
      <p:sp>
        <p:nvSpPr>
          <p:cNvPr id="349" name="Shape 350"/>
          <p:cNvSpPr/>
          <p:nvPr/>
        </p:nvSpPr>
        <p:spPr>
          <a:xfrm>
            <a:off x="4978908" y="4082796"/>
            <a:ext cx="1714500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7C7"/>
            </a:solidFill>
          </a:ln>
        </p:spPr>
        <p:txBody>
          <a:bodyPr wrap="square" lIns="45720" tIns="18288" rIns="45720" bIns="18288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1F1F"/>
                </a:solidFill>
                <a:latin typeface="Calibri"/>
                <a:cs typeface="Calibri"/>
              </a:rPr>
              <a:t>Spring Security</a:t>
            </a:r>
          </a:p>
        </p:txBody>
      </p:sp>
      <p:sp>
        <p:nvSpPr>
          <p:cNvPr id="351" name="Shape 352"/>
          <p:cNvSpPr/>
          <p:nvPr/>
        </p:nvSpPr>
        <p:spPr>
          <a:xfrm>
            <a:off x="6821424" y="4082796"/>
            <a:ext cx="658368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7C7"/>
            </a:solidFill>
          </a:ln>
        </p:spPr>
        <p:txBody>
          <a:bodyPr wrap="square" lIns="45720" tIns="18288" rIns="45720" bIns="18288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1F1F"/>
                </a:solidFill>
                <a:latin typeface="Calibri"/>
                <a:cs typeface="Calibri"/>
              </a:rPr>
              <a:t>RBAC</a:t>
            </a:r>
          </a:p>
        </p:txBody>
      </p:sp>
      <p:sp>
        <p:nvSpPr>
          <p:cNvPr id="353" name="Shape 354"/>
          <p:cNvSpPr/>
          <p:nvPr/>
        </p:nvSpPr>
        <p:spPr>
          <a:xfrm>
            <a:off x="566928" y="4983480"/>
            <a:ext cx="10149840" cy="105156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355" name="TextBox 356"/>
          <p:cNvSpPr txBox="1"/>
          <p:nvPr/>
        </p:nvSpPr>
        <p:spPr>
          <a:xfrm>
            <a:off x="822960" y="498348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DevOps &amp; tooling</a:t>
            </a:r>
          </a:p>
        </p:txBody>
      </p:sp>
      <p:sp>
        <p:nvSpPr>
          <p:cNvPr id="357" name="Shape 358"/>
          <p:cNvSpPr/>
          <p:nvPr/>
        </p:nvSpPr>
        <p:spPr>
          <a:xfrm>
            <a:off x="3310128" y="5317236"/>
            <a:ext cx="850392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7C7"/>
            </a:solidFill>
          </a:ln>
        </p:spPr>
        <p:txBody>
          <a:bodyPr wrap="square" lIns="45720" tIns="18288" rIns="45720" bIns="18288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1F1F"/>
                </a:solidFill>
                <a:latin typeface="Calibri"/>
                <a:cs typeface="Calibri"/>
              </a:rPr>
              <a:t>Docker</a:t>
            </a:r>
          </a:p>
        </p:txBody>
      </p:sp>
      <p:sp>
        <p:nvSpPr>
          <p:cNvPr id="359" name="Shape 360"/>
          <p:cNvSpPr/>
          <p:nvPr/>
        </p:nvSpPr>
        <p:spPr>
          <a:xfrm>
            <a:off x="4288536" y="5317236"/>
            <a:ext cx="1234440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7C7"/>
            </a:solidFill>
          </a:ln>
        </p:spPr>
        <p:txBody>
          <a:bodyPr wrap="square" lIns="45720" tIns="18288" rIns="45720" bIns="18288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1F1F"/>
                </a:solidFill>
                <a:latin typeface="Calibri"/>
                <a:cs typeface="Calibri"/>
              </a:rPr>
              <a:t>Kubernetes</a:t>
            </a:r>
          </a:p>
        </p:txBody>
      </p:sp>
      <p:sp>
        <p:nvSpPr>
          <p:cNvPr id="361" name="Shape 362"/>
          <p:cNvSpPr/>
          <p:nvPr/>
        </p:nvSpPr>
        <p:spPr>
          <a:xfrm>
            <a:off x="5650992" y="5317236"/>
            <a:ext cx="1618488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7C7"/>
            </a:solidFill>
          </a:ln>
        </p:spPr>
        <p:txBody>
          <a:bodyPr wrap="square" lIns="45720" tIns="18288" rIns="45720" bIns="18288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1F1F"/>
                </a:solidFill>
                <a:latin typeface="Calibri"/>
                <a:cs typeface="Calibri"/>
              </a:rPr>
              <a:t>GitHub Actions</a:t>
            </a:r>
          </a:p>
        </p:txBody>
      </p:sp>
      <p:sp>
        <p:nvSpPr>
          <p:cNvPr id="363" name="Shape 364"/>
          <p:cNvSpPr/>
          <p:nvPr/>
        </p:nvSpPr>
        <p:spPr>
          <a:xfrm>
            <a:off x="7397496" y="5317236"/>
            <a:ext cx="850392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7C7"/>
            </a:solidFill>
          </a:ln>
        </p:spPr>
        <p:txBody>
          <a:bodyPr wrap="square" lIns="45720" tIns="18288" rIns="45720" bIns="18288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1F1F"/>
                </a:solidFill>
                <a:latin typeface="Calibri"/>
                <a:cs typeface="Calibri"/>
              </a:rPr>
              <a:t>pytest</a:t>
            </a:r>
          </a:p>
        </p:txBody>
      </p:sp>
      <p:sp>
        <p:nvSpPr>
          <p:cNvPr id="365" name="Shape 366"/>
          <p:cNvSpPr/>
          <p:nvPr/>
        </p:nvSpPr>
        <p:spPr>
          <a:xfrm>
            <a:off x="8375904" y="5317236"/>
            <a:ext cx="946404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7C7"/>
            </a:solidFill>
          </a:ln>
        </p:spPr>
        <p:txBody>
          <a:bodyPr wrap="square" lIns="45720" tIns="18288" rIns="45720" bIns="18288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1F1F"/>
                </a:solidFill>
                <a:latin typeface="Calibri"/>
                <a:cs typeface="Calibri"/>
              </a:rPr>
              <a:t>VS Code</a:t>
            </a:r>
          </a:p>
        </p:txBody>
      </p:sp>
      <p:sp>
        <p:nvSpPr>
          <p:cNvPr id="367" name="Shape 368"/>
          <p:cNvSpPr/>
          <p:nvPr/>
        </p:nvSpPr>
        <p:spPr>
          <a:xfrm>
            <a:off x="9450324" y="5317236"/>
            <a:ext cx="850392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7C7"/>
            </a:solidFill>
          </a:ln>
        </p:spPr>
        <p:txBody>
          <a:bodyPr wrap="square" lIns="45720" tIns="18288" rIns="45720" bIns="18288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1F1F"/>
                </a:solidFill>
                <a:latin typeface="Calibri"/>
                <a:cs typeface="Calibri"/>
              </a:rPr>
              <a:t>Ubuntu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394"/>
          <p:cNvSpPr/>
          <p:nvPr/>
        </p:nvSpPr>
        <p:spPr>
          <a:xfrm>
            <a:off x="3564575" y="221673"/>
            <a:ext cx="5062850" cy="51723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395" name="TextBox 396"/>
          <p:cNvSpPr txBox="1"/>
          <p:nvPr/>
        </p:nvSpPr>
        <p:spPr>
          <a:xfrm>
            <a:off x="3564575" y="221673"/>
            <a:ext cx="5062850" cy="517236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Dataset / Input Details</a:t>
            </a:r>
          </a:p>
        </p:txBody>
      </p:sp>
      <p:sp>
        <p:nvSpPr>
          <p:cNvPr id="375" name="Shape 376"/>
          <p:cNvSpPr/>
          <p:nvPr/>
        </p:nvSpPr>
        <p:spPr>
          <a:xfrm>
            <a:off x="566928" y="1280160"/>
            <a:ext cx="4974336" cy="980694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250" b="1" i="0" dirty="0">
                <a:solidFill>
                  <a:srgbClr val="C00000"/>
                </a:solidFill>
                <a:latin typeface="Calibri"/>
                <a:cs typeface="Calibri"/>
              </a:rPr>
              <a:t>Dataset name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SAMS-Mock-T4 (internally generated academic dataset)</a:t>
            </a:r>
          </a:p>
        </p:txBody>
      </p:sp>
      <p:sp>
        <p:nvSpPr>
          <p:cNvPr id="377" name="Shape 378"/>
          <p:cNvSpPr/>
          <p:nvPr/>
        </p:nvSpPr>
        <p:spPr>
          <a:xfrm>
            <a:off x="5742432" y="1280160"/>
            <a:ext cx="4974336" cy="980694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250" b="1" i="0" dirty="0">
                <a:solidFill>
                  <a:srgbClr val="C00000"/>
                </a:solidFill>
                <a:latin typeface="Calibri"/>
                <a:cs typeface="Calibri"/>
              </a:rPr>
              <a:t>Dataset source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Sec 13 timetable plus synthetic check-in events generated per class session</a:t>
            </a:r>
          </a:p>
        </p:txBody>
      </p:sp>
      <p:sp>
        <p:nvSpPr>
          <p:cNvPr id="379" name="Shape 380"/>
          <p:cNvSpPr/>
          <p:nvPr/>
        </p:nvSpPr>
        <p:spPr>
          <a:xfrm>
            <a:off x="566928" y="2462022"/>
            <a:ext cx="4974336" cy="980694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250" b="1" i="0" dirty="0">
                <a:solidFill>
                  <a:srgbClr val="C00000"/>
                </a:solidFill>
                <a:latin typeface="Calibri"/>
                <a:cs typeface="Calibri"/>
              </a:rPr>
              <a:t>Records / events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~40,000 attendance events per trimester (5 subjects × ~7 sessions/week × 14 weeks)</a:t>
            </a:r>
          </a:p>
        </p:txBody>
      </p:sp>
      <p:sp>
        <p:nvSpPr>
          <p:cNvPr id="381" name="Shape 382"/>
          <p:cNvSpPr/>
          <p:nvPr/>
        </p:nvSpPr>
        <p:spPr>
          <a:xfrm>
            <a:off x="5742432" y="2462022"/>
            <a:ext cx="4974336" cy="980694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250" b="1" i="0" dirty="0">
                <a:solidFill>
                  <a:srgbClr val="C00000"/>
                </a:solidFill>
                <a:latin typeface="Calibri"/>
                <a:cs typeface="Calibri"/>
              </a:rPr>
              <a:t>Features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session_id, student_id, timestamp, status, optional 512-d face embedding</a:t>
            </a:r>
          </a:p>
        </p:txBody>
      </p:sp>
      <p:sp>
        <p:nvSpPr>
          <p:cNvPr id="383" name="Shape 384"/>
          <p:cNvSpPr/>
          <p:nvPr/>
        </p:nvSpPr>
        <p:spPr>
          <a:xfrm>
            <a:off x="566928" y="3643884"/>
            <a:ext cx="4974336" cy="980694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250" b="1" i="0" dirty="0">
                <a:solidFill>
                  <a:srgbClr val="C00000"/>
                </a:solidFill>
                <a:latin typeface="Calibri"/>
                <a:cs typeface="Calibri"/>
              </a:rPr>
              <a:t>Training / validation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Not applicable to LTPS logic; the embedding threshold is tuned on an 80/20 held-out split</a:t>
            </a:r>
          </a:p>
        </p:txBody>
      </p:sp>
      <p:sp>
        <p:nvSpPr>
          <p:cNvPr id="385" name="Shape 386"/>
          <p:cNvSpPr/>
          <p:nvPr/>
        </p:nvSpPr>
        <p:spPr>
          <a:xfrm>
            <a:off x="5742432" y="3643884"/>
            <a:ext cx="4974336" cy="980694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250" b="1" i="0" dirty="0">
                <a:solidFill>
                  <a:srgbClr val="C00000"/>
                </a:solidFill>
                <a:latin typeface="Calibri"/>
                <a:cs typeface="Calibri"/>
              </a:rPr>
              <a:t>Testing data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20% of check-in events held out for load and regression testing</a:t>
            </a:r>
          </a:p>
        </p:txBody>
      </p:sp>
      <p:sp>
        <p:nvSpPr>
          <p:cNvPr id="387" name="Shape 388"/>
          <p:cNvSpPr/>
          <p:nvPr/>
        </p:nvSpPr>
        <p:spPr>
          <a:xfrm>
            <a:off x="566928" y="4825746"/>
            <a:ext cx="4974336" cy="980694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250" b="1" i="0" dirty="0">
                <a:solidFill>
                  <a:srgbClr val="C00000"/>
                </a:solidFill>
                <a:latin typeface="Calibri"/>
                <a:cs typeface="Calibri"/>
              </a:rPr>
              <a:t>Input parameters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session_id, student_id, timestamp, optional embedding vector</a:t>
            </a:r>
          </a:p>
        </p:txBody>
      </p:sp>
      <p:sp>
        <p:nvSpPr>
          <p:cNvPr id="389" name="Shape 390"/>
          <p:cNvSpPr/>
          <p:nvPr/>
        </p:nvSpPr>
        <p:spPr>
          <a:xfrm>
            <a:off x="5742432" y="4825746"/>
            <a:ext cx="4974336" cy="980694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250" b="1" i="0" dirty="0">
                <a:solidFill>
                  <a:srgbClr val="C00000"/>
                </a:solidFill>
                <a:latin typeface="Calibri"/>
                <a:cs typeface="Calibri"/>
              </a:rPr>
              <a:t>Output / target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Attendance status (present / absent), LTPS percentage, policy zone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hape 412"/>
          <p:cNvSpPr/>
          <p:nvPr/>
        </p:nvSpPr>
        <p:spPr>
          <a:xfrm>
            <a:off x="3380232" y="221673"/>
            <a:ext cx="5431536" cy="51723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413" name="TextBox 414"/>
          <p:cNvSpPr txBox="1"/>
          <p:nvPr/>
        </p:nvSpPr>
        <p:spPr>
          <a:xfrm>
            <a:off x="3380232" y="221673"/>
            <a:ext cx="5431536" cy="517236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Implementation – Module 1</a:t>
            </a:r>
          </a:p>
        </p:txBody>
      </p:sp>
      <p:sp>
        <p:nvSpPr>
          <p:cNvPr id="415" name="TextBox 416"/>
          <p:cNvSpPr txBox="1"/>
          <p:nvPr/>
        </p:nvSpPr>
        <p:spPr>
          <a:xfrm>
            <a:off x="566928" y="1033272"/>
            <a:ext cx="10149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C00000"/>
                </a:solidFill>
                <a:latin typeface="Calibri"/>
                <a:cs typeface="Calibri"/>
              </a:rPr>
              <a:t>TIMETABLE &amp; ATTENDANCE DASHBOARD (REACT FRONT END)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A2A88A-F166-6473-73EF-F13A1415F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15" y="1321840"/>
            <a:ext cx="10392570" cy="478599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hape 430"/>
          <p:cNvSpPr/>
          <p:nvPr/>
        </p:nvSpPr>
        <p:spPr>
          <a:xfrm>
            <a:off x="3380232" y="221673"/>
            <a:ext cx="5431536" cy="51723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431" name="TextBox 432"/>
          <p:cNvSpPr txBox="1"/>
          <p:nvPr/>
        </p:nvSpPr>
        <p:spPr>
          <a:xfrm>
            <a:off x="3380232" y="221673"/>
            <a:ext cx="5431536" cy="517236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Implementation – Module 2</a:t>
            </a:r>
          </a:p>
        </p:txBody>
      </p:sp>
      <p:sp>
        <p:nvSpPr>
          <p:cNvPr id="433" name="TextBox 434"/>
          <p:cNvSpPr txBox="1"/>
          <p:nvPr/>
        </p:nvSpPr>
        <p:spPr>
          <a:xfrm>
            <a:off x="566928" y="1033272"/>
            <a:ext cx="10149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C00000"/>
                </a:solidFill>
                <a:latin typeface="Calibri"/>
                <a:cs typeface="Calibri"/>
              </a:rPr>
              <a:t>ATTENDANCE SERVICE (FASTAPI BACKEND)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6B3374-C8AC-5CB0-FE83-1B251A7DA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92" y="1307592"/>
            <a:ext cx="11168109" cy="51427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468"/>
          <p:cNvSpPr/>
          <p:nvPr/>
        </p:nvSpPr>
        <p:spPr>
          <a:xfrm>
            <a:off x="2998378" y="221673"/>
            <a:ext cx="6195243" cy="51723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469" name="TextBox 470"/>
          <p:cNvSpPr txBox="1"/>
          <p:nvPr/>
        </p:nvSpPr>
        <p:spPr>
          <a:xfrm>
            <a:off x="2998378" y="221673"/>
            <a:ext cx="6195243" cy="517236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Hardware and Software Requirements</a:t>
            </a:r>
          </a:p>
        </p:txBody>
      </p:sp>
      <p:sp>
        <p:nvSpPr>
          <p:cNvPr id="453" name="Shape 454"/>
          <p:cNvSpPr/>
          <p:nvPr/>
        </p:nvSpPr>
        <p:spPr>
          <a:xfrm>
            <a:off x="566928" y="1280160"/>
            <a:ext cx="4974336" cy="1037844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250" b="1" i="0" dirty="0">
                <a:solidFill>
                  <a:srgbClr val="C00000"/>
                </a:solidFill>
                <a:latin typeface="Calibri"/>
                <a:cs typeface="Calibri"/>
              </a:rPr>
              <a:t>Hardware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[Developer laptop specs] for local testing; [cloud VM spec, e.g. 2 vCPU / 4 GB] for load testing</a:t>
            </a:r>
          </a:p>
        </p:txBody>
      </p:sp>
      <p:sp>
        <p:nvSpPr>
          <p:cNvPr id="455" name="Shape 456"/>
          <p:cNvSpPr/>
          <p:nvPr/>
        </p:nvSpPr>
        <p:spPr>
          <a:xfrm>
            <a:off x="5742432" y="1280160"/>
            <a:ext cx="4974336" cy="1037844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250" b="1" i="0" dirty="0">
                <a:solidFill>
                  <a:srgbClr val="C00000"/>
                </a:solidFill>
                <a:latin typeface="Calibri"/>
                <a:cs typeface="Calibri"/>
              </a:rPr>
              <a:t>Software environment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Python 3.11, Node 18, PostgreSQL 15, MongoDB 6, Docker 24, pytest, Locust</a:t>
            </a:r>
          </a:p>
        </p:txBody>
      </p:sp>
      <p:sp>
        <p:nvSpPr>
          <p:cNvPr id="457" name="Shape 458"/>
          <p:cNvSpPr/>
          <p:nvPr/>
        </p:nvSpPr>
        <p:spPr>
          <a:xfrm>
            <a:off x="566928" y="2519172"/>
            <a:ext cx="4974336" cy="1037844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250" b="1" i="0" dirty="0">
                <a:solidFill>
                  <a:srgbClr val="C00000"/>
                </a:solidFill>
                <a:latin typeface="Calibri"/>
                <a:cs typeface="Calibri"/>
              </a:rPr>
              <a:t>Dataset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SAMS-Mock-T4 (see the Dataset / Input Details slide)</a:t>
            </a:r>
          </a:p>
        </p:txBody>
      </p:sp>
      <p:sp>
        <p:nvSpPr>
          <p:cNvPr id="459" name="Shape 460"/>
          <p:cNvSpPr/>
          <p:nvPr/>
        </p:nvSpPr>
        <p:spPr>
          <a:xfrm>
            <a:off x="5742432" y="2519172"/>
            <a:ext cx="4974336" cy="1037844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250" b="1" i="0" dirty="0">
                <a:solidFill>
                  <a:srgbClr val="C00000"/>
                </a:solidFill>
                <a:latin typeface="Calibri"/>
                <a:cs typeface="Calibri"/>
              </a:rPr>
              <a:t>Experimental parameters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Embedding dimension 512; HNSW index (M = 16, ef_construction = 200); policy thresholds 75% / 85%</a:t>
            </a:r>
          </a:p>
        </p:txBody>
      </p:sp>
      <p:sp>
        <p:nvSpPr>
          <p:cNvPr id="461" name="Shape 462"/>
          <p:cNvSpPr/>
          <p:nvPr/>
        </p:nvSpPr>
        <p:spPr>
          <a:xfrm>
            <a:off x="566928" y="3758184"/>
            <a:ext cx="4974336" cy="1037844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250" b="1" i="0" dirty="0">
                <a:solidFill>
                  <a:srgbClr val="C00000"/>
                </a:solidFill>
                <a:latin typeface="Calibri"/>
                <a:cs typeface="Calibri"/>
              </a:rPr>
              <a:t>Training / testing configuration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80/20 split for embedding-threshold tuning; full mock dataset for LTPS and API testing</a:t>
            </a:r>
          </a:p>
        </p:txBody>
      </p:sp>
      <p:sp>
        <p:nvSpPr>
          <p:cNvPr id="463" name="Shape 464"/>
          <p:cNvSpPr/>
          <p:nvPr/>
        </p:nvSpPr>
        <p:spPr>
          <a:xfrm>
            <a:off x="5742432" y="3758184"/>
            <a:ext cx="4974336" cy="1037844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250" b="1" i="0" dirty="0">
                <a:solidFill>
                  <a:srgbClr val="C00000"/>
                </a:solidFill>
                <a:latin typeface="Calibri"/>
                <a:cs typeface="Calibri"/>
              </a:rPr>
              <a:t>Number of experiments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[Fill in after running: number of load-test runs and embedding-match trials]</a:t>
            </a:r>
          </a:p>
        </p:txBody>
      </p:sp>
      <p:sp>
        <p:nvSpPr>
          <p:cNvPr id="465" name="Shape 466"/>
          <p:cNvSpPr/>
          <p:nvPr/>
        </p:nvSpPr>
        <p:spPr>
          <a:xfrm>
            <a:off x="566928" y="4997196"/>
            <a:ext cx="4974336" cy="1037844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250" b="1" i="0" dirty="0">
                <a:solidFill>
                  <a:srgbClr val="C00000"/>
                </a:solidFill>
                <a:latin typeface="Calibri"/>
                <a:cs typeface="Calibri"/>
              </a:rPr>
              <a:t>Evaluation metrics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API p95 latency, face-match precision and recall, load throughput, service uptime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Shape 512"/>
          <p:cNvSpPr/>
          <p:nvPr/>
        </p:nvSpPr>
        <p:spPr>
          <a:xfrm>
            <a:off x="3736848" y="221673"/>
            <a:ext cx="4718304" cy="51723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513" name="TextBox 514"/>
          <p:cNvSpPr txBox="1"/>
          <p:nvPr/>
        </p:nvSpPr>
        <p:spPr>
          <a:xfrm>
            <a:off x="3736848" y="221673"/>
            <a:ext cx="4718304" cy="517236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Results</a:t>
            </a:r>
          </a:p>
        </p:txBody>
      </p:sp>
      <p:sp>
        <p:nvSpPr>
          <p:cNvPr id="473" name="Shape 474"/>
          <p:cNvSpPr/>
          <p:nvPr/>
        </p:nvSpPr>
        <p:spPr>
          <a:xfrm>
            <a:off x="566928" y="1280160"/>
            <a:ext cx="4584801" cy="457200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Metric</a:t>
            </a:r>
          </a:p>
        </p:txBody>
      </p:sp>
      <p:sp>
        <p:nvSpPr>
          <p:cNvPr id="475" name="Shape 476"/>
          <p:cNvSpPr/>
          <p:nvPr/>
        </p:nvSpPr>
        <p:spPr>
          <a:xfrm>
            <a:off x="5243169" y="1280160"/>
            <a:ext cx="2691079" cy="457200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Target</a:t>
            </a:r>
          </a:p>
        </p:txBody>
      </p:sp>
      <p:sp>
        <p:nvSpPr>
          <p:cNvPr id="477" name="Shape 478"/>
          <p:cNvSpPr/>
          <p:nvPr/>
        </p:nvSpPr>
        <p:spPr>
          <a:xfrm>
            <a:off x="8025688" y="1280160"/>
            <a:ext cx="2691079" cy="457200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Observed</a:t>
            </a:r>
          </a:p>
        </p:txBody>
      </p:sp>
      <p:sp>
        <p:nvSpPr>
          <p:cNvPr id="479" name="Shape 480"/>
          <p:cNvSpPr/>
          <p:nvPr/>
        </p:nvSpPr>
        <p:spPr>
          <a:xfrm>
            <a:off x="566928" y="1828800"/>
            <a:ext cx="4584801" cy="722376"/>
          </a:xfrm>
          <a:prstGeom prst="roundRect">
            <a:avLst>
              <a:gd name="adj" fmla="val 9000"/>
            </a:avLst>
          </a:prstGeom>
          <a:solidFill>
            <a:srgbClr val="EFE6E6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F1F1F"/>
                </a:solidFill>
                <a:latin typeface="Calibri"/>
                <a:cs typeface="Calibri"/>
              </a:rPr>
              <a:t>API p95 latency (attendance mark)</a:t>
            </a:r>
          </a:p>
        </p:txBody>
      </p:sp>
      <p:sp>
        <p:nvSpPr>
          <p:cNvPr id="481" name="Shape 482"/>
          <p:cNvSpPr/>
          <p:nvPr/>
        </p:nvSpPr>
        <p:spPr>
          <a:xfrm>
            <a:off x="5243169" y="1828800"/>
            <a:ext cx="2691079" cy="72237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333333"/>
                </a:solidFill>
                <a:latin typeface="Calibri"/>
                <a:cs typeface="Calibri"/>
              </a:rPr>
              <a:t>&lt; 150 ms</a:t>
            </a:r>
          </a:p>
        </p:txBody>
      </p:sp>
      <p:sp>
        <p:nvSpPr>
          <p:cNvPr id="483" name="Shape 484"/>
          <p:cNvSpPr/>
          <p:nvPr/>
        </p:nvSpPr>
        <p:spPr>
          <a:xfrm>
            <a:off x="8025688" y="1828800"/>
            <a:ext cx="2691079" cy="72237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333333"/>
                </a:solidFill>
                <a:latin typeface="Calibri"/>
                <a:cs typeface="Calibri"/>
              </a:rPr>
              <a:t>[fill in]</a:t>
            </a:r>
          </a:p>
        </p:txBody>
      </p:sp>
      <p:sp>
        <p:nvSpPr>
          <p:cNvPr id="485" name="Shape 486"/>
          <p:cNvSpPr/>
          <p:nvPr/>
        </p:nvSpPr>
        <p:spPr>
          <a:xfrm>
            <a:off x="566928" y="2642616"/>
            <a:ext cx="4584801" cy="722376"/>
          </a:xfrm>
          <a:prstGeom prst="roundRect">
            <a:avLst>
              <a:gd name="adj" fmla="val 9000"/>
            </a:avLst>
          </a:prstGeom>
          <a:solidFill>
            <a:srgbClr val="EFE6E6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F1F1F"/>
                </a:solidFill>
                <a:latin typeface="Calibri"/>
                <a:cs typeface="Calibri"/>
              </a:rPr>
              <a:t>Face-match precision</a:t>
            </a:r>
          </a:p>
        </p:txBody>
      </p:sp>
      <p:sp>
        <p:nvSpPr>
          <p:cNvPr id="487" name="Shape 488"/>
          <p:cNvSpPr/>
          <p:nvPr/>
        </p:nvSpPr>
        <p:spPr>
          <a:xfrm>
            <a:off x="5243169" y="2642616"/>
            <a:ext cx="2691079" cy="72237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333333"/>
                </a:solidFill>
                <a:latin typeface="Calibri"/>
                <a:cs typeface="Calibri"/>
              </a:rPr>
              <a:t>≥ 90%</a:t>
            </a:r>
          </a:p>
        </p:txBody>
      </p:sp>
      <p:sp>
        <p:nvSpPr>
          <p:cNvPr id="489" name="Shape 490"/>
          <p:cNvSpPr/>
          <p:nvPr/>
        </p:nvSpPr>
        <p:spPr>
          <a:xfrm>
            <a:off x="8025688" y="2642616"/>
            <a:ext cx="2691079" cy="72237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333333"/>
                </a:solidFill>
                <a:latin typeface="Calibri"/>
                <a:cs typeface="Calibri"/>
              </a:rPr>
              <a:t>[fill in]</a:t>
            </a:r>
          </a:p>
        </p:txBody>
      </p:sp>
      <p:sp>
        <p:nvSpPr>
          <p:cNvPr id="491" name="Shape 492"/>
          <p:cNvSpPr/>
          <p:nvPr/>
        </p:nvSpPr>
        <p:spPr>
          <a:xfrm>
            <a:off x="566928" y="3456432"/>
            <a:ext cx="4584801" cy="722376"/>
          </a:xfrm>
          <a:prstGeom prst="roundRect">
            <a:avLst>
              <a:gd name="adj" fmla="val 9000"/>
            </a:avLst>
          </a:prstGeom>
          <a:solidFill>
            <a:srgbClr val="EFE6E6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F1F1F"/>
                </a:solidFill>
                <a:latin typeface="Calibri"/>
                <a:cs typeface="Calibri"/>
              </a:rPr>
              <a:t>Face-match recall</a:t>
            </a:r>
          </a:p>
        </p:txBody>
      </p:sp>
      <p:sp>
        <p:nvSpPr>
          <p:cNvPr id="493" name="Shape 494"/>
          <p:cNvSpPr/>
          <p:nvPr/>
        </p:nvSpPr>
        <p:spPr>
          <a:xfrm>
            <a:off x="5243169" y="3456432"/>
            <a:ext cx="2691079" cy="72237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333333"/>
                </a:solidFill>
                <a:latin typeface="Calibri"/>
                <a:cs typeface="Calibri"/>
              </a:rPr>
              <a:t>≥ 85%</a:t>
            </a:r>
          </a:p>
        </p:txBody>
      </p:sp>
      <p:sp>
        <p:nvSpPr>
          <p:cNvPr id="495" name="Shape 496"/>
          <p:cNvSpPr/>
          <p:nvPr/>
        </p:nvSpPr>
        <p:spPr>
          <a:xfrm>
            <a:off x="8025688" y="3456432"/>
            <a:ext cx="2691079" cy="72237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333333"/>
                </a:solidFill>
                <a:latin typeface="Calibri"/>
                <a:cs typeface="Calibri"/>
              </a:rPr>
              <a:t>[fill in]</a:t>
            </a:r>
          </a:p>
        </p:txBody>
      </p:sp>
      <p:sp>
        <p:nvSpPr>
          <p:cNvPr id="497" name="Shape 498"/>
          <p:cNvSpPr/>
          <p:nvPr/>
        </p:nvSpPr>
        <p:spPr>
          <a:xfrm>
            <a:off x="566928" y="4270248"/>
            <a:ext cx="4584801" cy="722376"/>
          </a:xfrm>
          <a:prstGeom prst="roundRect">
            <a:avLst>
              <a:gd name="adj" fmla="val 9000"/>
            </a:avLst>
          </a:prstGeom>
          <a:solidFill>
            <a:srgbClr val="EFE6E6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F1F1F"/>
                </a:solidFill>
                <a:latin typeface="Calibri"/>
                <a:cs typeface="Calibri"/>
              </a:rPr>
              <a:t>Load test throughput</a:t>
            </a:r>
          </a:p>
        </p:txBody>
      </p:sp>
      <p:sp>
        <p:nvSpPr>
          <p:cNvPr id="499" name="Shape 500"/>
          <p:cNvSpPr/>
          <p:nvPr/>
        </p:nvSpPr>
        <p:spPr>
          <a:xfrm>
            <a:off x="5243169" y="4270248"/>
            <a:ext cx="2691079" cy="72237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333333"/>
                </a:solidFill>
                <a:latin typeface="Calibri"/>
                <a:cs typeface="Calibri"/>
              </a:rPr>
              <a:t>500 rps sustained</a:t>
            </a:r>
          </a:p>
        </p:txBody>
      </p:sp>
      <p:sp>
        <p:nvSpPr>
          <p:cNvPr id="501" name="Shape 502"/>
          <p:cNvSpPr/>
          <p:nvPr/>
        </p:nvSpPr>
        <p:spPr>
          <a:xfrm>
            <a:off x="8025688" y="4270248"/>
            <a:ext cx="2691079" cy="72237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333333"/>
                </a:solidFill>
                <a:latin typeface="Calibri"/>
                <a:cs typeface="Calibri"/>
              </a:rPr>
              <a:t>[fill in]</a:t>
            </a:r>
          </a:p>
        </p:txBody>
      </p:sp>
      <p:sp>
        <p:nvSpPr>
          <p:cNvPr id="503" name="Shape 504"/>
          <p:cNvSpPr/>
          <p:nvPr/>
        </p:nvSpPr>
        <p:spPr>
          <a:xfrm>
            <a:off x="566928" y="5084064"/>
            <a:ext cx="4584801" cy="722376"/>
          </a:xfrm>
          <a:prstGeom prst="roundRect">
            <a:avLst>
              <a:gd name="adj" fmla="val 9000"/>
            </a:avLst>
          </a:prstGeom>
          <a:solidFill>
            <a:srgbClr val="EFE6E6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F1F1F"/>
                </a:solidFill>
                <a:latin typeface="Calibri"/>
                <a:cs typeface="Calibri"/>
              </a:rPr>
              <a:t>Sample check-in → dashboard update</a:t>
            </a:r>
          </a:p>
        </p:txBody>
      </p:sp>
      <p:sp>
        <p:nvSpPr>
          <p:cNvPr id="505" name="Shape 506"/>
          <p:cNvSpPr/>
          <p:nvPr/>
        </p:nvSpPr>
        <p:spPr>
          <a:xfrm>
            <a:off x="5243169" y="5084064"/>
            <a:ext cx="2691079" cy="72237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333333"/>
                </a:solidFill>
                <a:latin typeface="Calibri"/>
                <a:cs typeface="Calibri"/>
              </a:rPr>
              <a:t>Real-time</a:t>
            </a:r>
          </a:p>
        </p:txBody>
      </p:sp>
      <p:sp>
        <p:nvSpPr>
          <p:cNvPr id="507" name="Shape 508"/>
          <p:cNvSpPr/>
          <p:nvPr/>
        </p:nvSpPr>
        <p:spPr>
          <a:xfrm>
            <a:off x="8025688" y="5084064"/>
            <a:ext cx="2691079" cy="72237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333333"/>
                </a:solidFill>
                <a:latin typeface="Calibri"/>
                <a:cs typeface="Calibri"/>
              </a:rPr>
              <a:t>[fill in]</a:t>
            </a:r>
          </a:p>
        </p:txBody>
      </p:sp>
      <p:sp>
        <p:nvSpPr>
          <p:cNvPr id="509" name="TextBox 510"/>
          <p:cNvSpPr txBox="1"/>
          <p:nvPr/>
        </p:nvSpPr>
        <p:spPr>
          <a:xfrm>
            <a:off x="566928" y="5989320"/>
            <a:ext cx="1014984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0" i="1" dirty="0">
                <a:solidFill>
                  <a:srgbClr val="6B6060"/>
                </a:solidFill>
                <a:latin typeface="Calibri"/>
                <a:cs typeface="Calibri"/>
              </a:rPr>
              <a:t>Present the observed column with tables, graphs or sample prediction screenshots once the experiments are run.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Shape 532"/>
          <p:cNvSpPr/>
          <p:nvPr/>
        </p:nvSpPr>
        <p:spPr>
          <a:xfrm>
            <a:off x="3656746" y="221673"/>
            <a:ext cx="4878507" cy="51723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533" name="TextBox 534"/>
          <p:cNvSpPr txBox="1"/>
          <p:nvPr/>
        </p:nvSpPr>
        <p:spPr>
          <a:xfrm>
            <a:off x="3656746" y="221673"/>
            <a:ext cx="4878507" cy="517236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Performance Evaluation</a:t>
            </a:r>
          </a:p>
        </p:txBody>
      </p:sp>
      <p:sp>
        <p:nvSpPr>
          <p:cNvPr id="517" name="Shape 518"/>
          <p:cNvSpPr/>
          <p:nvPr/>
        </p:nvSpPr>
        <p:spPr>
          <a:xfrm>
            <a:off x="566928" y="1280160"/>
            <a:ext cx="3249168" cy="165963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2800" b="1" i="0" dirty="0">
                <a:solidFill>
                  <a:srgbClr val="C00000"/>
                </a:solidFill>
                <a:latin typeface="Calibri"/>
                <a:cs typeface="Calibri"/>
              </a:rPr>
              <a:t>[  ]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Accuracy</a:t>
            </a:r>
          </a:p>
        </p:txBody>
      </p:sp>
      <p:sp>
        <p:nvSpPr>
          <p:cNvPr id="519" name="Shape 520"/>
          <p:cNvSpPr/>
          <p:nvPr/>
        </p:nvSpPr>
        <p:spPr>
          <a:xfrm>
            <a:off x="4017264" y="1280160"/>
            <a:ext cx="3249168" cy="165963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2800" b="1" i="0" dirty="0">
                <a:solidFill>
                  <a:srgbClr val="C00000"/>
                </a:solidFill>
                <a:latin typeface="Calibri"/>
                <a:cs typeface="Calibri"/>
              </a:rPr>
              <a:t>[  ]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Precision</a:t>
            </a:r>
          </a:p>
        </p:txBody>
      </p:sp>
      <p:sp>
        <p:nvSpPr>
          <p:cNvPr id="521" name="Shape 522"/>
          <p:cNvSpPr/>
          <p:nvPr/>
        </p:nvSpPr>
        <p:spPr>
          <a:xfrm>
            <a:off x="7467600" y="1280160"/>
            <a:ext cx="3249168" cy="165963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2800" b="1" i="0" dirty="0">
                <a:solidFill>
                  <a:srgbClr val="C00000"/>
                </a:solidFill>
                <a:latin typeface="Calibri"/>
                <a:cs typeface="Calibri"/>
              </a:rPr>
              <a:t>[  ]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Recall</a:t>
            </a:r>
          </a:p>
        </p:txBody>
      </p:sp>
      <p:sp>
        <p:nvSpPr>
          <p:cNvPr id="523" name="Shape 524"/>
          <p:cNvSpPr/>
          <p:nvPr/>
        </p:nvSpPr>
        <p:spPr>
          <a:xfrm>
            <a:off x="566928" y="3140964"/>
            <a:ext cx="3249168" cy="165963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2800" b="1" i="0" dirty="0">
                <a:solidFill>
                  <a:srgbClr val="C00000"/>
                </a:solidFill>
                <a:latin typeface="Calibri"/>
                <a:cs typeface="Calibri"/>
              </a:rPr>
              <a:t>[  ]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F1-Score</a:t>
            </a:r>
          </a:p>
        </p:txBody>
      </p:sp>
      <p:sp>
        <p:nvSpPr>
          <p:cNvPr id="525" name="Shape 526"/>
          <p:cNvSpPr/>
          <p:nvPr/>
        </p:nvSpPr>
        <p:spPr>
          <a:xfrm>
            <a:off x="4017264" y="3140964"/>
            <a:ext cx="3249168" cy="165963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2800" b="1" i="0" dirty="0">
                <a:solidFill>
                  <a:srgbClr val="C00000"/>
                </a:solidFill>
                <a:latin typeface="Calibri"/>
                <a:cs typeface="Calibri"/>
              </a:rPr>
              <a:t>[  ]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Response Time</a:t>
            </a:r>
          </a:p>
        </p:txBody>
      </p:sp>
      <p:sp>
        <p:nvSpPr>
          <p:cNvPr id="527" name="Shape 528"/>
          <p:cNvSpPr/>
          <p:nvPr/>
        </p:nvSpPr>
        <p:spPr>
          <a:xfrm>
            <a:off x="7467600" y="3140964"/>
            <a:ext cx="3249168" cy="165963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2800" b="1" i="0" dirty="0">
                <a:solidFill>
                  <a:srgbClr val="C00000"/>
                </a:solidFill>
                <a:latin typeface="Calibri"/>
                <a:cs typeface="Calibri"/>
              </a:rPr>
              <a:t>[  ]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Throughput</a:t>
            </a:r>
          </a:p>
        </p:txBody>
      </p:sp>
      <p:sp>
        <p:nvSpPr>
          <p:cNvPr id="529" name="Shape 530"/>
          <p:cNvSpPr/>
          <p:nvPr/>
        </p:nvSpPr>
        <p:spPr>
          <a:xfrm>
            <a:off x="566928" y="5029200"/>
            <a:ext cx="10149840" cy="1005840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</p:spPr>
        <p:txBody>
          <a:bodyPr wrap="square" lIns="274320" tIns="128016" rIns="274320" bIns="128016" rtlCol="0" anchor="ctr"/>
          <a:lstStyle/>
          <a:p>
            <a:pPr marL="0" indent="0" algn="l">
              <a:lnSpc>
                <a:spcPct val="100000"/>
              </a:lnSpc>
              <a:spcAft>
                <a:spcPts val="180"/>
              </a:spcAft>
              <a:buNone/>
            </a:pPr>
            <a:r>
              <a:rPr lang="en-US" sz="1100" b="1" i="0" dirty="0">
                <a:solidFill>
                  <a:srgbClr val="FFD9D9"/>
                </a:solidFill>
                <a:latin typeface="Calibri"/>
                <a:cs typeface="Calibri"/>
              </a:rPr>
              <a:t>COMPARISON STATEMENT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The proposed approach achieved [XX]% [metric] compared with [XX]% for the existing approach — fill this in once the comparison slide has real numbers.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Shape 552"/>
          <p:cNvSpPr/>
          <p:nvPr/>
        </p:nvSpPr>
        <p:spPr>
          <a:xfrm>
            <a:off x="3288060" y="221673"/>
            <a:ext cx="5615879" cy="51723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553" name="TextBox 554"/>
          <p:cNvSpPr txBox="1"/>
          <p:nvPr/>
        </p:nvSpPr>
        <p:spPr>
          <a:xfrm>
            <a:off x="3288060" y="221673"/>
            <a:ext cx="5615879" cy="517236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Screenshots / Working Demo</a:t>
            </a:r>
          </a:p>
        </p:txBody>
      </p:sp>
      <p:sp>
        <p:nvSpPr>
          <p:cNvPr id="537" name="Shape 538"/>
          <p:cNvSpPr/>
          <p:nvPr/>
        </p:nvSpPr>
        <p:spPr>
          <a:xfrm>
            <a:off x="566928" y="1280160"/>
            <a:ext cx="3249168" cy="156819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Home / login page</a:t>
            </a:r>
          </a:p>
        </p:txBody>
      </p:sp>
      <p:sp>
        <p:nvSpPr>
          <p:cNvPr id="539" name="Shape 540"/>
          <p:cNvSpPr/>
          <p:nvPr/>
        </p:nvSpPr>
        <p:spPr>
          <a:xfrm>
            <a:off x="4017264" y="1280160"/>
            <a:ext cx="3249168" cy="156819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Timetable view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The editable weekly grid</a:t>
            </a:r>
          </a:p>
        </p:txBody>
      </p:sp>
      <p:sp>
        <p:nvSpPr>
          <p:cNvPr id="541" name="Shape 542"/>
          <p:cNvSpPr/>
          <p:nvPr/>
        </p:nvSpPr>
        <p:spPr>
          <a:xfrm>
            <a:off x="7467600" y="1280160"/>
            <a:ext cx="3249168" cy="156819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Attendance dashboard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Per-subject cards with policy-zone badges</a:t>
            </a:r>
          </a:p>
        </p:txBody>
      </p:sp>
      <p:sp>
        <p:nvSpPr>
          <p:cNvPr id="543" name="Shape 544"/>
          <p:cNvSpPr/>
          <p:nvPr/>
        </p:nvSpPr>
        <p:spPr>
          <a:xfrm>
            <a:off x="566928" y="3049524"/>
            <a:ext cx="3249168" cy="156819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Check-in flow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Marking attendance, and face verification if demoed</a:t>
            </a:r>
          </a:p>
        </p:txBody>
      </p:sp>
      <p:sp>
        <p:nvSpPr>
          <p:cNvPr id="545" name="Shape 546"/>
          <p:cNvSpPr/>
          <p:nvPr/>
        </p:nvSpPr>
        <p:spPr>
          <a:xfrm>
            <a:off x="4017264" y="3049524"/>
            <a:ext cx="3249168" cy="156819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Database / admin view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Raw records in Postgres and MongoDB</a:t>
            </a:r>
          </a:p>
        </p:txBody>
      </p:sp>
      <p:sp>
        <p:nvSpPr>
          <p:cNvPr id="547" name="Shape 548"/>
          <p:cNvSpPr/>
          <p:nvPr/>
        </p:nvSpPr>
        <p:spPr>
          <a:xfrm>
            <a:off x="7467600" y="3049524"/>
            <a:ext cx="3249168" cy="156819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1" i="0" dirty="0">
                <a:solidFill>
                  <a:srgbClr val="C00000"/>
                </a:solidFill>
                <a:latin typeface="Calibri"/>
                <a:cs typeface="Calibri"/>
              </a:rPr>
              <a:t>Final integrated application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End to end</a:t>
            </a:r>
          </a:p>
        </p:txBody>
      </p:sp>
      <p:sp>
        <p:nvSpPr>
          <p:cNvPr id="549" name="Shape 550"/>
          <p:cNvSpPr/>
          <p:nvPr/>
        </p:nvSpPr>
        <p:spPr>
          <a:xfrm>
            <a:off x="566928" y="4846320"/>
            <a:ext cx="10149840" cy="1005840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</p:spPr>
        <p:txBody>
          <a:bodyPr wrap="square" lIns="274320" tIns="128016" rIns="274320" bIns="128016" rtlCol="0" anchor="ctr"/>
          <a:lstStyle/>
          <a:p>
            <a:pPr marL="0" indent="0" algn="l">
              <a:lnSpc>
                <a:spcPct val="100000"/>
              </a:lnSpc>
              <a:spcAft>
                <a:spcPts val="180"/>
              </a:spcAft>
              <a:buNone/>
            </a:pPr>
            <a:r>
              <a:rPr lang="en-US" sz="1100" b="1" i="0" dirty="0">
                <a:solidFill>
                  <a:srgbClr val="FFD9D9"/>
                </a:solidFill>
                <a:latin typeface="Calibri"/>
                <a:cs typeface="Calibri"/>
              </a:rPr>
              <a:t>READY TO USE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The ‘Attendo’ React dashboard already built for this project covers the timetable and attendance screens — capture screenshots directly from it for this slide.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Shape 606"/>
          <p:cNvSpPr/>
          <p:nvPr/>
        </p:nvSpPr>
        <p:spPr>
          <a:xfrm>
            <a:off x="3235391" y="221673"/>
            <a:ext cx="5721218" cy="51723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607" name="TextBox 608"/>
          <p:cNvSpPr txBox="1"/>
          <p:nvPr/>
        </p:nvSpPr>
        <p:spPr>
          <a:xfrm>
            <a:off x="3235391" y="221673"/>
            <a:ext cx="5721218" cy="517236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Comparison with Existing System</a:t>
            </a:r>
          </a:p>
        </p:txBody>
      </p:sp>
      <p:sp>
        <p:nvSpPr>
          <p:cNvPr id="557" name="Shape 558"/>
          <p:cNvSpPr/>
          <p:nvPr/>
        </p:nvSpPr>
        <p:spPr>
          <a:xfrm>
            <a:off x="566928" y="1280160"/>
            <a:ext cx="2172614" cy="457200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Dimension</a:t>
            </a:r>
          </a:p>
        </p:txBody>
      </p:sp>
      <p:sp>
        <p:nvSpPr>
          <p:cNvPr id="559" name="Shape 560"/>
          <p:cNvSpPr/>
          <p:nvPr/>
        </p:nvSpPr>
        <p:spPr>
          <a:xfrm>
            <a:off x="2830982" y="1280160"/>
            <a:ext cx="2172614" cy="457200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RFID / QR systems</a:t>
            </a:r>
          </a:p>
        </p:txBody>
      </p:sp>
      <p:sp>
        <p:nvSpPr>
          <p:cNvPr id="561" name="Shape 562"/>
          <p:cNvSpPr/>
          <p:nvPr/>
        </p:nvSpPr>
        <p:spPr>
          <a:xfrm>
            <a:off x="5095036" y="1280160"/>
            <a:ext cx="2370124" cy="457200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Cloud ERP modules</a:t>
            </a:r>
          </a:p>
        </p:txBody>
      </p:sp>
      <p:sp>
        <p:nvSpPr>
          <p:cNvPr id="563" name="Shape 564"/>
          <p:cNvSpPr/>
          <p:nvPr/>
        </p:nvSpPr>
        <p:spPr>
          <a:xfrm>
            <a:off x="7556600" y="1280160"/>
            <a:ext cx="3160166" cy="457200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SAMS (proposed)</a:t>
            </a:r>
          </a:p>
        </p:txBody>
      </p:sp>
      <p:sp>
        <p:nvSpPr>
          <p:cNvPr id="565" name="Shape 566"/>
          <p:cNvSpPr/>
          <p:nvPr/>
        </p:nvSpPr>
        <p:spPr>
          <a:xfrm>
            <a:off x="566928" y="1828800"/>
            <a:ext cx="2172614" cy="768096"/>
          </a:xfrm>
          <a:prstGeom prst="roundRect">
            <a:avLst>
              <a:gd name="adj" fmla="val 9000"/>
            </a:avLst>
          </a:prstGeom>
          <a:solidFill>
            <a:srgbClr val="EFE6E6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1F1F"/>
                </a:solidFill>
                <a:latin typeface="Calibri"/>
                <a:cs typeface="Calibri"/>
              </a:rPr>
              <a:t>Verification mode</a:t>
            </a:r>
          </a:p>
        </p:txBody>
      </p:sp>
      <p:sp>
        <p:nvSpPr>
          <p:cNvPr id="567" name="Shape 568"/>
          <p:cNvSpPr/>
          <p:nvPr/>
        </p:nvSpPr>
        <p:spPr>
          <a:xfrm>
            <a:off x="2830982" y="1828800"/>
            <a:ext cx="2172614" cy="76809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333333"/>
                </a:solidFill>
                <a:latin typeface="Calibri"/>
                <a:cs typeface="Calibri"/>
              </a:rPr>
              <a:t>Card or code scan</a:t>
            </a:r>
          </a:p>
        </p:txBody>
      </p:sp>
      <p:sp>
        <p:nvSpPr>
          <p:cNvPr id="569" name="Shape 570"/>
          <p:cNvSpPr/>
          <p:nvPr/>
        </p:nvSpPr>
        <p:spPr>
          <a:xfrm>
            <a:off x="5095036" y="1828800"/>
            <a:ext cx="2370124" cy="76809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333333"/>
                </a:solidFill>
                <a:latin typeface="Calibri"/>
                <a:cs typeface="Calibri"/>
              </a:rPr>
              <a:t>Manual / card</a:t>
            </a:r>
          </a:p>
        </p:txBody>
      </p:sp>
      <p:sp>
        <p:nvSpPr>
          <p:cNvPr id="571" name="Shape 572"/>
          <p:cNvSpPr/>
          <p:nvPr/>
        </p:nvSpPr>
        <p:spPr>
          <a:xfrm>
            <a:off x="7556600" y="1828800"/>
            <a:ext cx="3160166" cy="76809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333333"/>
                </a:solidFill>
                <a:latin typeface="Calibri"/>
                <a:cs typeface="Calibri"/>
              </a:rPr>
              <a:t>JWT check-in + optional face-embedding match</a:t>
            </a:r>
          </a:p>
        </p:txBody>
      </p:sp>
      <p:sp>
        <p:nvSpPr>
          <p:cNvPr id="573" name="Shape 574"/>
          <p:cNvSpPr/>
          <p:nvPr/>
        </p:nvSpPr>
        <p:spPr>
          <a:xfrm>
            <a:off x="566928" y="2688336"/>
            <a:ext cx="2172614" cy="768096"/>
          </a:xfrm>
          <a:prstGeom prst="roundRect">
            <a:avLst>
              <a:gd name="adj" fmla="val 9000"/>
            </a:avLst>
          </a:prstGeom>
          <a:solidFill>
            <a:srgbClr val="EFE6E6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1F1F"/>
                </a:solidFill>
                <a:latin typeface="Calibri"/>
                <a:cs typeface="Calibri"/>
              </a:rPr>
              <a:t>Data architecture</a:t>
            </a:r>
          </a:p>
        </p:txBody>
      </p:sp>
      <p:sp>
        <p:nvSpPr>
          <p:cNvPr id="575" name="Shape 576"/>
          <p:cNvSpPr/>
          <p:nvPr/>
        </p:nvSpPr>
        <p:spPr>
          <a:xfrm>
            <a:off x="2830982" y="2688336"/>
            <a:ext cx="2172614" cy="76809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333333"/>
                </a:solidFill>
                <a:latin typeface="Calibri"/>
                <a:cs typeface="Calibri"/>
              </a:rPr>
              <a:t>Single database</a:t>
            </a:r>
          </a:p>
        </p:txBody>
      </p:sp>
      <p:sp>
        <p:nvSpPr>
          <p:cNvPr id="577" name="Shape 578"/>
          <p:cNvSpPr/>
          <p:nvPr/>
        </p:nvSpPr>
        <p:spPr>
          <a:xfrm>
            <a:off x="5095036" y="2688336"/>
            <a:ext cx="2370124" cy="76809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333333"/>
                </a:solidFill>
                <a:latin typeface="Calibri"/>
                <a:cs typeface="Calibri"/>
              </a:rPr>
              <a:t>Single, vendor-owned database</a:t>
            </a:r>
          </a:p>
        </p:txBody>
      </p:sp>
      <p:sp>
        <p:nvSpPr>
          <p:cNvPr id="579" name="Shape 580"/>
          <p:cNvSpPr/>
          <p:nvPr/>
        </p:nvSpPr>
        <p:spPr>
          <a:xfrm>
            <a:off x="7556600" y="2688336"/>
            <a:ext cx="3160166" cy="76809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333333"/>
                </a:solidFill>
                <a:latin typeface="Calibri"/>
                <a:cs typeface="Calibri"/>
              </a:rPr>
              <a:t>Polyglot: Postgres + MongoDB + pgvector</a:t>
            </a:r>
          </a:p>
        </p:txBody>
      </p:sp>
      <p:sp>
        <p:nvSpPr>
          <p:cNvPr id="581" name="Shape 582"/>
          <p:cNvSpPr/>
          <p:nvPr/>
        </p:nvSpPr>
        <p:spPr>
          <a:xfrm>
            <a:off x="566928" y="3547872"/>
            <a:ext cx="2172614" cy="768096"/>
          </a:xfrm>
          <a:prstGeom prst="roundRect">
            <a:avLst>
              <a:gd name="adj" fmla="val 9000"/>
            </a:avLst>
          </a:prstGeom>
          <a:solidFill>
            <a:srgbClr val="EFE6E6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1F1F"/>
                </a:solidFill>
                <a:latin typeface="Calibri"/>
                <a:cs typeface="Calibri"/>
              </a:rPr>
              <a:t>Policy awareness</a:t>
            </a:r>
          </a:p>
        </p:txBody>
      </p:sp>
      <p:sp>
        <p:nvSpPr>
          <p:cNvPr id="583" name="Shape 584"/>
          <p:cNvSpPr/>
          <p:nvPr/>
        </p:nvSpPr>
        <p:spPr>
          <a:xfrm>
            <a:off x="2830982" y="3547872"/>
            <a:ext cx="2172614" cy="76809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333333"/>
                </a:solidFill>
                <a:latin typeface="Calibri"/>
                <a:cs typeface="Calibri"/>
              </a:rPr>
              <a:t>None</a:t>
            </a:r>
          </a:p>
        </p:txBody>
      </p:sp>
      <p:sp>
        <p:nvSpPr>
          <p:cNvPr id="585" name="Shape 586"/>
          <p:cNvSpPr/>
          <p:nvPr/>
        </p:nvSpPr>
        <p:spPr>
          <a:xfrm>
            <a:off x="5095036" y="3547872"/>
            <a:ext cx="2370124" cy="76809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333333"/>
                </a:solidFill>
                <a:latin typeface="Calibri"/>
                <a:cs typeface="Calibri"/>
              </a:rPr>
              <a:t>Limited, manual review</a:t>
            </a:r>
          </a:p>
        </p:txBody>
      </p:sp>
      <p:sp>
        <p:nvSpPr>
          <p:cNvPr id="587" name="Shape 588"/>
          <p:cNvSpPr/>
          <p:nvPr/>
        </p:nvSpPr>
        <p:spPr>
          <a:xfrm>
            <a:off x="7556600" y="3547872"/>
            <a:ext cx="3160166" cy="76809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333333"/>
                </a:solidFill>
                <a:latin typeface="Calibri"/>
                <a:cs typeface="Calibri"/>
              </a:rPr>
              <a:t>Automatic 75 / 85% zone calculation</a:t>
            </a:r>
          </a:p>
        </p:txBody>
      </p:sp>
      <p:sp>
        <p:nvSpPr>
          <p:cNvPr id="589" name="Shape 590"/>
          <p:cNvSpPr/>
          <p:nvPr/>
        </p:nvSpPr>
        <p:spPr>
          <a:xfrm>
            <a:off x="566928" y="4407408"/>
            <a:ext cx="2172614" cy="768096"/>
          </a:xfrm>
          <a:prstGeom prst="roundRect">
            <a:avLst>
              <a:gd name="adj" fmla="val 9000"/>
            </a:avLst>
          </a:prstGeom>
          <a:solidFill>
            <a:srgbClr val="EFE6E6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1F1F"/>
                </a:solidFill>
                <a:latin typeface="Calibri"/>
                <a:cs typeface="Calibri"/>
              </a:rPr>
              <a:t>Student-facing analytics</a:t>
            </a:r>
          </a:p>
        </p:txBody>
      </p:sp>
      <p:sp>
        <p:nvSpPr>
          <p:cNvPr id="591" name="Shape 592"/>
          <p:cNvSpPr/>
          <p:nvPr/>
        </p:nvSpPr>
        <p:spPr>
          <a:xfrm>
            <a:off x="2830982" y="4407408"/>
            <a:ext cx="2172614" cy="76809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333333"/>
                </a:solidFill>
                <a:latin typeface="Calibri"/>
                <a:cs typeface="Calibri"/>
              </a:rPr>
              <a:t>None</a:t>
            </a:r>
          </a:p>
        </p:txBody>
      </p:sp>
      <p:sp>
        <p:nvSpPr>
          <p:cNvPr id="593" name="Shape 594"/>
          <p:cNvSpPr/>
          <p:nvPr/>
        </p:nvSpPr>
        <p:spPr>
          <a:xfrm>
            <a:off x="5095036" y="4407408"/>
            <a:ext cx="2370124" cy="76809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333333"/>
                </a:solidFill>
                <a:latin typeface="Calibri"/>
                <a:cs typeface="Calibri"/>
              </a:rPr>
              <a:t>Rarely available</a:t>
            </a:r>
          </a:p>
        </p:txBody>
      </p:sp>
      <p:sp>
        <p:nvSpPr>
          <p:cNvPr id="595" name="Shape 596"/>
          <p:cNvSpPr/>
          <p:nvPr/>
        </p:nvSpPr>
        <p:spPr>
          <a:xfrm>
            <a:off x="7556600" y="4407408"/>
            <a:ext cx="3160166" cy="76809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333333"/>
                </a:solidFill>
                <a:latin typeface="Calibri"/>
                <a:cs typeface="Calibri"/>
              </a:rPr>
              <a:t>Live ‘safe to miss’ / ‘must attend’ projection</a:t>
            </a:r>
          </a:p>
        </p:txBody>
      </p:sp>
      <p:sp>
        <p:nvSpPr>
          <p:cNvPr id="597" name="Shape 598"/>
          <p:cNvSpPr/>
          <p:nvPr/>
        </p:nvSpPr>
        <p:spPr>
          <a:xfrm>
            <a:off x="566928" y="5266944"/>
            <a:ext cx="2172614" cy="768096"/>
          </a:xfrm>
          <a:prstGeom prst="roundRect">
            <a:avLst>
              <a:gd name="adj" fmla="val 9000"/>
            </a:avLst>
          </a:prstGeom>
          <a:solidFill>
            <a:srgbClr val="EFE6E6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1F1F"/>
                </a:solidFill>
                <a:latin typeface="Calibri"/>
                <a:cs typeface="Calibri"/>
              </a:rPr>
              <a:t>Extensibility</a:t>
            </a:r>
          </a:p>
        </p:txBody>
      </p:sp>
      <p:sp>
        <p:nvSpPr>
          <p:cNvPr id="599" name="Shape 600"/>
          <p:cNvSpPr/>
          <p:nvPr/>
        </p:nvSpPr>
        <p:spPr>
          <a:xfrm>
            <a:off x="2830982" y="5266944"/>
            <a:ext cx="2172614" cy="76809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333333"/>
                </a:solidFill>
                <a:latin typeface="Calibri"/>
                <a:cs typeface="Calibri"/>
              </a:rPr>
              <a:t>Low</a:t>
            </a:r>
          </a:p>
        </p:txBody>
      </p:sp>
      <p:sp>
        <p:nvSpPr>
          <p:cNvPr id="601" name="Shape 602"/>
          <p:cNvSpPr/>
          <p:nvPr/>
        </p:nvSpPr>
        <p:spPr>
          <a:xfrm>
            <a:off x="5095036" y="5266944"/>
            <a:ext cx="2370124" cy="76809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333333"/>
                </a:solidFill>
                <a:latin typeface="Calibri"/>
                <a:cs typeface="Calibri"/>
              </a:rPr>
              <a:t>Low — tightly coupled to the ERP</a:t>
            </a:r>
          </a:p>
        </p:txBody>
      </p:sp>
      <p:sp>
        <p:nvSpPr>
          <p:cNvPr id="603" name="Shape 604"/>
          <p:cNvSpPr/>
          <p:nvPr/>
        </p:nvSpPr>
        <p:spPr>
          <a:xfrm>
            <a:off x="7556600" y="5266944"/>
            <a:ext cx="3160166" cy="768096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64008" rIns="146304" bIns="64008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333333"/>
                </a:solidFill>
                <a:latin typeface="Calibri"/>
                <a:cs typeface="Calibri"/>
              </a:rPr>
              <a:t>High — independent, per-service databases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Shape 632"/>
          <p:cNvSpPr/>
          <p:nvPr/>
        </p:nvSpPr>
        <p:spPr>
          <a:xfrm>
            <a:off x="3656746" y="221673"/>
            <a:ext cx="4878507" cy="51723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633" name="TextBox 634"/>
          <p:cNvSpPr txBox="1"/>
          <p:nvPr/>
        </p:nvSpPr>
        <p:spPr>
          <a:xfrm>
            <a:off x="3656746" y="221673"/>
            <a:ext cx="4878507" cy="517236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Challenges &amp; Solutions</a:t>
            </a:r>
          </a:p>
        </p:txBody>
      </p:sp>
      <p:sp>
        <p:nvSpPr>
          <p:cNvPr id="611" name="Shape 612"/>
          <p:cNvSpPr/>
          <p:nvPr/>
        </p:nvSpPr>
        <p:spPr>
          <a:xfrm>
            <a:off x="566928" y="1280160"/>
            <a:ext cx="4983480" cy="420624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Challenge</a:t>
            </a:r>
          </a:p>
        </p:txBody>
      </p:sp>
      <p:sp>
        <p:nvSpPr>
          <p:cNvPr id="613" name="Shape 614"/>
          <p:cNvSpPr/>
          <p:nvPr/>
        </p:nvSpPr>
        <p:spPr>
          <a:xfrm>
            <a:off x="5733288" y="1280160"/>
            <a:ext cx="4983480" cy="420624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Solution</a:t>
            </a:r>
          </a:p>
        </p:txBody>
      </p:sp>
      <p:sp>
        <p:nvSpPr>
          <p:cNvPr id="615" name="Shape 616"/>
          <p:cNvSpPr/>
          <p:nvPr/>
        </p:nvSpPr>
        <p:spPr>
          <a:xfrm>
            <a:off x="566928" y="1883664"/>
            <a:ext cx="4983480" cy="900684"/>
          </a:xfrm>
          <a:prstGeom prst="roundRect">
            <a:avLst>
              <a:gd name="adj" fmla="val 9000"/>
            </a:avLst>
          </a:prstGeom>
          <a:solidFill>
            <a:srgbClr val="EFE6E6"/>
          </a:solidFill>
          <a:ln>
            <a:noFill/>
          </a:ln>
        </p:spPr>
        <p:txBody>
          <a:bodyPr wrap="square" lIns="146304" tIns="73152" rIns="146304" bIns="73152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Keeping data consistent across Postgres and MongoDB on cross-service writes.</a:t>
            </a:r>
          </a:p>
        </p:txBody>
      </p:sp>
      <p:sp>
        <p:nvSpPr>
          <p:cNvPr id="617" name="Shape 618"/>
          <p:cNvSpPr/>
          <p:nvPr/>
        </p:nvSpPr>
        <p:spPr>
          <a:xfrm>
            <a:off x="5733288" y="1883664"/>
            <a:ext cx="4983480" cy="900684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73152" rIns="146304" bIns="73152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Saga-based compensating actions plus a single-writer pattern (the Attendance service) for both stores.</a:t>
            </a:r>
          </a:p>
        </p:txBody>
      </p:sp>
      <p:sp>
        <p:nvSpPr>
          <p:cNvPr id="619" name="Shape 620"/>
          <p:cNvSpPr/>
          <p:nvPr/>
        </p:nvSpPr>
        <p:spPr>
          <a:xfrm>
            <a:off x="566928" y="2967228"/>
            <a:ext cx="4983480" cy="900684"/>
          </a:xfrm>
          <a:prstGeom prst="roundRect">
            <a:avLst>
              <a:gd name="adj" fmla="val 9000"/>
            </a:avLst>
          </a:prstGeom>
          <a:solidFill>
            <a:srgbClr val="EFE6E6"/>
          </a:solidFill>
          <a:ln>
            <a:noFill/>
          </a:ln>
        </p:spPr>
        <p:txBody>
          <a:bodyPr wrap="square" lIns="146304" tIns="73152" rIns="146304" bIns="73152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Face-embedding match latency as the enrolled population grows.</a:t>
            </a:r>
          </a:p>
        </p:txBody>
      </p:sp>
      <p:sp>
        <p:nvSpPr>
          <p:cNvPr id="621" name="Shape 622"/>
          <p:cNvSpPr/>
          <p:nvPr/>
        </p:nvSpPr>
        <p:spPr>
          <a:xfrm>
            <a:off x="5733288" y="2967228"/>
            <a:ext cx="4983480" cy="900684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73152" rIns="146304" bIns="73152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HNSW indexing keeps approximate nearest-neighbour search under roughly 100 ms as embeddings scale.</a:t>
            </a:r>
          </a:p>
        </p:txBody>
      </p:sp>
      <p:sp>
        <p:nvSpPr>
          <p:cNvPr id="623" name="Shape 624"/>
          <p:cNvSpPr/>
          <p:nvPr/>
        </p:nvSpPr>
        <p:spPr>
          <a:xfrm>
            <a:off x="566928" y="4050792"/>
            <a:ext cx="4983480" cy="900684"/>
          </a:xfrm>
          <a:prstGeom prst="roundRect">
            <a:avLst>
              <a:gd name="adj" fmla="val 9000"/>
            </a:avLst>
          </a:prstGeom>
          <a:solidFill>
            <a:srgbClr val="EFE6E6"/>
          </a:solidFill>
          <a:ln>
            <a:noFill/>
          </a:ln>
        </p:spPr>
        <p:txBody>
          <a:bodyPr wrap="square" lIns="146304" tIns="73152" rIns="146304" bIns="73152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Coordinating three backend frameworks (FastAPI, Node.js, Spring Boot) behind one gateway.</a:t>
            </a:r>
          </a:p>
        </p:txBody>
      </p:sp>
      <p:sp>
        <p:nvSpPr>
          <p:cNvPr id="625" name="Shape 626"/>
          <p:cNvSpPr/>
          <p:nvPr/>
        </p:nvSpPr>
        <p:spPr>
          <a:xfrm>
            <a:off x="5733288" y="4050792"/>
            <a:ext cx="4983480" cy="900684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73152" rIns="146304" bIns="73152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A shared API Gateway unifies auth and routing so each service stays independently deployable.</a:t>
            </a:r>
          </a:p>
        </p:txBody>
      </p:sp>
      <p:sp>
        <p:nvSpPr>
          <p:cNvPr id="627" name="Shape 628"/>
          <p:cNvSpPr/>
          <p:nvPr/>
        </p:nvSpPr>
        <p:spPr>
          <a:xfrm>
            <a:off x="566928" y="5134356"/>
            <a:ext cx="4983480" cy="900684"/>
          </a:xfrm>
          <a:prstGeom prst="roundRect">
            <a:avLst>
              <a:gd name="adj" fmla="val 9000"/>
            </a:avLst>
          </a:prstGeom>
          <a:solidFill>
            <a:srgbClr val="EFE6E6"/>
          </a:solidFill>
          <a:ln>
            <a:noFill/>
          </a:ln>
        </p:spPr>
        <p:txBody>
          <a:bodyPr wrap="square" lIns="146304" tIns="73152" rIns="146304" bIns="73152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Correctly encoding the university's condonation / detention policy.</a:t>
            </a:r>
          </a:p>
        </p:txBody>
      </p:sp>
      <p:sp>
        <p:nvSpPr>
          <p:cNvPr id="629" name="Shape 630"/>
          <p:cNvSpPr/>
          <p:nvPr/>
        </p:nvSpPr>
        <p:spPr>
          <a:xfrm>
            <a:off x="5733288" y="5134356"/>
            <a:ext cx="4983480" cy="900684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73152" rIns="146304" bIns="73152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33333"/>
                </a:solidFill>
                <a:latin typeface="Calibri"/>
                <a:cs typeface="Calibri"/>
              </a:rPr>
              <a:t>Policy thresholds are configurable constants, validated against the university's academic regulations.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50"/>
          <p:cNvSpPr/>
          <p:nvPr/>
        </p:nvSpPr>
        <p:spPr>
          <a:xfrm>
            <a:off x="3736848" y="221673"/>
            <a:ext cx="4718304" cy="51723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151" name="TextBox 152"/>
          <p:cNvSpPr txBox="1"/>
          <p:nvPr/>
        </p:nvSpPr>
        <p:spPr>
          <a:xfrm>
            <a:off x="3736848" y="221673"/>
            <a:ext cx="4718304" cy="517236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Current Progress</a:t>
            </a:r>
          </a:p>
        </p:txBody>
      </p:sp>
      <p:sp>
        <p:nvSpPr>
          <p:cNvPr id="109" name="Shape 110"/>
          <p:cNvSpPr/>
          <p:nvPr/>
        </p:nvSpPr>
        <p:spPr>
          <a:xfrm>
            <a:off x="566928" y="1280160"/>
            <a:ext cx="2971800" cy="210312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4400" b="1" i="0" dirty="0">
                <a:solidFill>
                  <a:srgbClr val="C00000"/>
                </a:solidFill>
                <a:latin typeface="Calibri"/>
                <a:cs typeface="Calibri"/>
              </a:rPr>
              <a:t>55%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333333"/>
                </a:solidFill>
                <a:latin typeface="Calibri"/>
                <a:cs typeface="Calibri"/>
              </a:rPr>
              <a:t>Overall progress</a:t>
            </a:r>
          </a:p>
        </p:txBody>
      </p:sp>
      <p:sp>
        <p:nvSpPr>
          <p:cNvPr id="111" name="TextBox 112"/>
          <p:cNvSpPr txBox="1"/>
          <p:nvPr/>
        </p:nvSpPr>
        <p:spPr>
          <a:xfrm>
            <a:off x="694944" y="3703320"/>
            <a:ext cx="2715768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100" b="0" i="1" dirty="0">
                <a:solidFill>
                  <a:srgbClr val="6B6060"/>
                </a:solidFill>
                <a:latin typeface="Calibri"/>
                <a:cs typeface="Calibri"/>
              </a:rPr>
              <a:t>Update this figure to reflect the team's actual completion percentage before the review.</a:t>
            </a:r>
          </a:p>
        </p:txBody>
      </p:sp>
      <p:sp>
        <p:nvSpPr>
          <p:cNvPr id="113" name="Shape 114"/>
          <p:cNvSpPr/>
          <p:nvPr/>
        </p:nvSpPr>
        <p:spPr>
          <a:xfrm>
            <a:off x="3794760" y="1280160"/>
            <a:ext cx="6922008" cy="67056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115" name="TextBox 116"/>
          <p:cNvSpPr txBox="1"/>
          <p:nvPr/>
        </p:nvSpPr>
        <p:spPr>
          <a:xfrm>
            <a:off x="4050792" y="1280160"/>
            <a:ext cx="4178808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F1F1F"/>
                </a:solidFill>
                <a:latin typeface="Calibri"/>
                <a:cs typeface="Calibri"/>
              </a:rPr>
              <a:t>Front-end dashboard (React)</a:t>
            </a:r>
          </a:p>
        </p:txBody>
      </p:sp>
      <p:sp>
        <p:nvSpPr>
          <p:cNvPr id="117" name="Shape 118"/>
          <p:cNvSpPr/>
          <p:nvPr/>
        </p:nvSpPr>
        <p:spPr>
          <a:xfrm>
            <a:off x="8567928" y="1414272"/>
            <a:ext cx="1874520" cy="402336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</p:spPr>
        <p:txBody>
          <a:bodyPr wrap="square" lIns="45720" tIns="18288" rIns="45720" bIns="18288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Complete</a:t>
            </a:r>
          </a:p>
        </p:txBody>
      </p:sp>
      <p:sp>
        <p:nvSpPr>
          <p:cNvPr id="119" name="Shape 120"/>
          <p:cNvSpPr/>
          <p:nvPr/>
        </p:nvSpPr>
        <p:spPr>
          <a:xfrm>
            <a:off x="3794760" y="2097024"/>
            <a:ext cx="6922008" cy="67056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121" name="TextBox 122"/>
          <p:cNvSpPr txBox="1"/>
          <p:nvPr/>
        </p:nvSpPr>
        <p:spPr>
          <a:xfrm>
            <a:off x="4050792" y="2097024"/>
            <a:ext cx="4178808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F1F1F"/>
                </a:solidFill>
                <a:latin typeface="Calibri"/>
                <a:cs typeface="Calibri"/>
              </a:rPr>
              <a:t>Relational + document schema</a:t>
            </a:r>
          </a:p>
        </p:txBody>
      </p:sp>
      <p:sp>
        <p:nvSpPr>
          <p:cNvPr id="123" name="Shape 124"/>
          <p:cNvSpPr/>
          <p:nvPr/>
        </p:nvSpPr>
        <p:spPr>
          <a:xfrm>
            <a:off x="8567928" y="2231136"/>
            <a:ext cx="1874520" cy="402336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</p:spPr>
        <p:txBody>
          <a:bodyPr wrap="square" lIns="45720" tIns="18288" rIns="45720" bIns="18288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Complete</a:t>
            </a:r>
          </a:p>
        </p:txBody>
      </p:sp>
      <p:sp>
        <p:nvSpPr>
          <p:cNvPr id="125" name="Shape 126"/>
          <p:cNvSpPr/>
          <p:nvPr/>
        </p:nvSpPr>
        <p:spPr>
          <a:xfrm>
            <a:off x="3794760" y="2913888"/>
            <a:ext cx="6922008" cy="67056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127" name="TextBox 128"/>
          <p:cNvSpPr txBox="1"/>
          <p:nvPr/>
        </p:nvSpPr>
        <p:spPr>
          <a:xfrm>
            <a:off x="4050792" y="2913888"/>
            <a:ext cx="4178808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F1F1F"/>
                </a:solidFill>
                <a:latin typeface="Calibri"/>
                <a:cs typeface="Calibri"/>
              </a:rPr>
              <a:t>Attendance service (FastAPI)</a:t>
            </a:r>
          </a:p>
        </p:txBody>
      </p:sp>
      <p:sp>
        <p:nvSpPr>
          <p:cNvPr id="129" name="Shape 130"/>
          <p:cNvSpPr/>
          <p:nvPr/>
        </p:nvSpPr>
        <p:spPr>
          <a:xfrm>
            <a:off x="8567928" y="3048000"/>
            <a:ext cx="1874520" cy="4023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A0A0"/>
            </a:solidFill>
          </a:ln>
        </p:spPr>
        <p:txBody>
          <a:bodyPr wrap="square" lIns="45720" tIns="18288" rIns="45720" bIns="18288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In progress</a:t>
            </a:r>
          </a:p>
        </p:txBody>
      </p:sp>
      <p:sp>
        <p:nvSpPr>
          <p:cNvPr id="131" name="Shape 132"/>
          <p:cNvSpPr/>
          <p:nvPr/>
        </p:nvSpPr>
        <p:spPr>
          <a:xfrm>
            <a:off x="3794760" y="3730752"/>
            <a:ext cx="6922008" cy="67056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133" name="TextBox 134"/>
          <p:cNvSpPr txBox="1"/>
          <p:nvPr/>
        </p:nvSpPr>
        <p:spPr>
          <a:xfrm>
            <a:off x="4050792" y="3730752"/>
            <a:ext cx="4178808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F1F1F"/>
                </a:solidFill>
                <a:latin typeface="Calibri"/>
                <a:cs typeface="Calibri"/>
              </a:rPr>
              <a:t>Face-embedding verification</a:t>
            </a:r>
          </a:p>
        </p:txBody>
      </p:sp>
      <p:sp>
        <p:nvSpPr>
          <p:cNvPr id="135" name="Shape 136"/>
          <p:cNvSpPr/>
          <p:nvPr/>
        </p:nvSpPr>
        <p:spPr>
          <a:xfrm>
            <a:off x="8567928" y="3864864"/>
            <a:ext cx="1874520" cy="4023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A0A0"/>
            </a:solidFill>
          </a:ln>
        </p:spPr>
        <p:txBody>
          <a:bodyPr wrap="square" lIns="45720" tIns="18288" rIns="45720" bIns="18288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Prototype</a:t>
            </a:r>
          </a:p>
        </p:txBody>
      </p:sp>
      <p:sp>
        <p:nvSpPr>
          <p:cNvPr id="137" name="Shape 138"/>
          <p:cNvSpPr/>
          <p:nvPr/>
        </p:nvSpPr>
        <p:spPr>
          <a:xfrm>
            <a:off x="3794760" y="4547616"/>
            <a:ext cx="6922008" cy="67056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139" name="TextBox 140"/>
          <p:cNvSpPr txBox="1"/>
          <p:nvPr/>
        </p:nvSpPr>
        <p:spPr>
          <a:xfrm>
            <a:off x="4050792" y="4547616"/>
            <a:ext cx="4178808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F1F1F"/>
                </a:solidFill>
                <a:latin typeface="Calibri"/>
                <a:cs typeface="Calibri"/>
              </a:rPr>
              <a:t>Session service (Node.js)</a:t>
            </a:r>
          </a:p>
        </p:txBody>
      </p:sp>
      <p:sp>
        <p:nvSpPr>
          <p:cNvPr id="141" name="Shape 142"/>
          <p:cNvSpPr/>
          <p:nvPr/>
        </p:nvSpPr>
        <p:spPr>
          <a:xfrm>
            <a:off x="8567928" y="4681728"/>
            <a:ext cx="1874520" cy="4023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A0A0"/>
            </a:solidFill>
          </a:ln>
        </p:spPr>
        <p:txBody>
          <a:bodyPr wrap="square" lIns="45720" tIns="18288" rIns="45720" bIns="18288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Not started</a:t>
            </a:r>
          </a:p>
        </p:txBody>
      </p:sp>
      <p:sp>
        <p:nvSpPr>
          <p:cNvPr id="143" name="Shape 144"/>
          <p:cNvSpPr/>
          <p:nvPr/>
        </p:nvSpPr>
        <p:spPr>
          <a:xfrm>
            <a:off x="3794760" y="5364480"/>
            <a:ext cx="6922008" cy="67056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145" name="TextBox 146"/>
          <p:cNvSpPr txBox="1"/>
          <p:nvPr/>
        </p:nvSpPr>
        <p:spPr>
          <a:xfrm>
            <a:off x="4050792" y="5364480"/>
            <a:ext cx="4178808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F1F1F"/>
                </a:solidFill>
                <a:latin typeface="Calibri"/>
                <a:cs typeface="Calibri"/>
              </a:rPr>
              <a:t>Reporting service (Spring Boot)</a:t>
            </a:r>
          </a:p>
        </p:txBody>
      </p:sp>
      <p:sp>
        <p:nvSpPr>
          <p:cNvPr id="147" name="Shape 148"/>
          <p:cNvSpPr/>
          <p:nvPr/>
        </p:nvSpPr>
        <p:spPr>
          <a:xfrm>
            <a:off x="8567928" y="5498592"/>
            <a:ext cx="1874520" cy="4023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A0A0"/>
            </a:solidFill>
          </a:ln>
        </p:spPr>
        <p:txBody>
          <a:bodyPr wrap="square" lIns="45720" tIns="18288" rIns="45720" bIns="18288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Not started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Shape 664"/>
          <p:cNvSpPr/>
          <p:nvPr/>
        </p:nvSpPr>
        <p:spPr>
          <a:xfrm>
            <a:off x="3736848" y="221673"/>
            <a:ext cx="4718304" cy="51723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665" name="TextBox 666"/>
          <p:cNvSpPr txBox="1"/>
          <p:nvPr/>
        </p:nvSpPr>
        <p:spPr>
          <a:xfrm>
            <a:off x="3736848" y="221673"/>
            <a:ext cx="4718304" cy="517236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Conclusion</a:t>
            </a:r>
          </a:p>
        </p:txBody>
      </p:sp>
      <p:sp>
        <p:nvSpPr>
          <p:cNvPr id="659" name="Shape 660"/>
          <p:cNvSpPr/>
          <p:nvPr/>
        </p:nvSpPr>
        <p:spPr>
          <a:xfrm>
            <a:off x="566928" y="1280160"/>
            <a:ext cx="10149840" cy="338328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384048" tIns="274320" rIns="384048" bIns="274320" rtlCol="0" anchor="ctr"/>
          <a:lstStyle/>
          <a:p>
            <a:pPr marL="201168" indent="-201168" algn="l">
              <a:lnSpc>
                <a:spcPct val="104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Manual attendance does not scale, and errors carry real academic consequences under the 75 / 85% policy.</a:t>
            </a:r>
          </a:p>
          <a:p>
            <a:pPr marL="201168" indent="-201168" algn="l">
              <a:lnSpc>
                <a:spcPct val="104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SAMS proposes a polyglot microservices platform: a relational core, a document event log, and an optional vector-based verification mode.</a:t>
            </a:r>
          </a:p>
          <a:p>
            <a:pPr marL="201168" indent="-201168" algn="l">
              <a:lnSpc>
                <a:spcPct val="104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The front-end dashboard and the core schema are implemented and working against mock data today.</a:t>
            </a:r>
          </a:p>
          <a:p>
            <a:pPr marL="201168" indent="-201168" algn="l">
              <a:lnSpc>
                <a:spcPct val="104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Early results, once the evaluation slides are populated, will show measurable gains in speed and auditability over manual marking.</a:t>
            </a:r>
          </a:p>
          <a:p>
            <a:pPr marL="201168" indent="-201168" algn="l">
              <a:lnSpc>
                <a:spcPct val="104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Expected contribution: a reusable pattern for policy-aware, real-time attendance tracking that other departments can adopt.</a:t>
            </a:r>
          </a:p>
        </p:txBody>
      </p:sp>
      <p:sp>
        <p:nvSpPr>
          <p:cNvPr id="661" name="Shape 662"/>
          <p:cNvSpPr/>
          <p:nvPr/>
        </p:nvSpPr>
        <p:spPr>
          <a:xfrm>
            <a:off x="566928" y="4892040"/>
            <a:ext cx="10149840" cy="1143000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</p:spPr>
        <p:txBody>
          <a:bodyPr wrap="square" lIns="274320" tIns="128016" rIns="274320" bIns="128016" rtlCol="0" anchor="ctr"/>
          <a:lstStyle/>
          <a:p>
            <a:pPr marL="0" indent="0" algn="l">
              <a:lnSpc>
                <a:spcPct val="100000"/>
              </a:lnSpc>
              <a:spcAft>
                <a:spcPts val="180"/>
              </a:spcAft>
              <a:buNone/>
            </a:pPr>
            <a:r>
              <a:rPr lang="en-US" sz="1100" b="1" i="0" dirty="0">
                <a:solidFill>
                  <a:srgbClr val="FFD9D9"/>
                </a:solidFill>
                <a:latin typeface="Calibri"/>
                <a:cs typeface="Calibri"/>
              </a:rPr>
              <a:t>FINAL STATEMENT</a:t>
            </a:r>
          </a:p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The proposed system demonstrates the feasibility of addressing the identified problem using the selected methodology, and provides a foundation for further improvement and real-world implementation.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Shape 706"/>
          <p:cNvSpPr/>
          <p:nvPr/>
        </p:nvSpPr>
        <p:spPr>
          <a:xfrm>
            <a:off x="3736848" y="221673"/>
            <a:ext cx="4718304" cy="51723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707" name="TextBox 708"/>
          <p:cNvSpPr txBox="1"/>
          <p:nvPr/>
        </p:nvSpPr>
        <p:spPr>
          <a:xfrm>
            <a:off x="3736848" y="221673"/>
            <a:ext cx="4718304" cy="517236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Future Scope</a:t>
            </a:r>
          </a:p>
        </p:txBody>
      </p:sp>
      <p:sp>
        <p:nvSpPr>
          <p:cNvPr id="669" name="Shape 670"/>
          <p:cNvSpPr/>
          <p:nvPr/>
        </p:nvSpPr>
        <p:spPr>
          <a:xfrm>
            <a:off x="566928" y="1280160"/>
            <a:ext cx="10149840" cy="67056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671" name="Shape 672"/>
          <p:cNvSpPr/>
          <p:nvPr/>
        </p:nvSpPr>
        <p:spPr>
          <a:xfrm>
            <a:off x="731520" y="1377696"/>
            <a:ext cx="475488" cy="4754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673" name="TextBox 674"/>
          <p:cNvSpPr txBox="1"/>
          <p:nvPr/>
        </p:nvSpPr>
        <p:spPr>
          <a:xfrm>
            <a:off x="1408176" y="1280160"/>
            <a:ext cx="9034272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333333"/>
                </a:solidFill>
                <a:latin typeface="Calibri"/>
                <a:cs typeface="Calibri"/>
              </a:rPr>
              <a:t>Complete the Node.js session service and the Spring Boot reporting service.</a:t>
            </a:r>
          </a:p>
        </p:txBody>
      </p:sp>
      <p:sp>
        <p:nvSpPr>
          <p:cNvPr id="675" name="Shape 676"/>
          <p:cNvSpPr/>
          <p:nvPr/>
        </p:nvSpPr>
        <p:spPr>
          <a:xfrm>
            <a:off x="566928" y="2097024"/>
            <a:ext cx="10149840" cy="67056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677" name="Shape 678"/>
          <p:cNvSpPr/>
          <p:nvPr/>
        </p:nvSpPr>
        <p:spPr>
          <a:xfrm>
            <a:off x="731520" y="2194560"/>
            <a:ext cx="475488" cy="4754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679" name="TextBox 680"/>
          <p:cNvSpPr txBox="1"/>
          <p:nvPr/>
        </p:nvSpPr>
        <p:spPr>
          <a:xfrm>
            <a:off x="1408176" y="2097024"/>
            <a:ext cx="9034272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333333"/>
                </a:solidFill>
                <a:latin typeface="Calibri"/>
                <a:cs typeface="Calibri"/>
              </a:rPr>
              <a:t>Run the full load and precision / recall experiments defined in the setup slide.</a:t>
            </a:r>
          </a:p>
        </p:txBody>
      </p:sp>
      <p:sp>
        <p:nvSpPr>
          <p:cNvPr id="681" name="Shape 682"/>
          <p:cNvSpPr/>
          <p:nvPr/>
        </p:nvSpPr>
        <p:spPr>
          <a:xfrm>
            <a:off x="566928" y="2913888"/>
            <a:ext cx="10149840" cy="67056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683" name="Shape 684"/>
          <p:cNvSpPr/>
          <p:nvPr/>
        </p:nvSpPr>
        <p:spPr>
          <a:xfrm>
            <a:off x="731520" y="3011424"/>
            <a:ext cx="475488" cy="4754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685" name="TextBox 686"/>
          <p:cNvSpPr txBox="1"/>
          <p:nvPr/>
        </p:nvSpPr>
        <p:spPr>
          <a:xfrm>
            <a:off x="1408176" y="2913888"/>
            <a:ext cx="9034272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333333"/>
                </a:solidFill>
                <a:latin typeface="Calibri"/>
                <a:cs typeface="Calibri"/>
              </a:rPr>
              <a:t>Test with a full-section enrolment dataset rather than the mock trimester dataset.</a:t>
            </a:r>
          </a:p>
        </p:txBody>
      </p:sp>
      <p:sp>
        <p:nvSpPr>
          <p:cNvPr id="687" name="Shape 688"/>
          <p:cNvSpPr/>
          <p:nvPr/>
        </p:nvSpPr>
        <p:spPr>
          <a:xfrm>
            <a:off x="566928" y="3730752"/>
            <a:ext cx="10149840" cy="67056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689" name="Shape 690"/>
          <p:cNvSpPr/>
          <p:nvPr/>
        </p:nvSpPr>
        <p:spPr>
          <a:xfrm>
            <a:off x="731520" y="3828288"/>
            <a:ext cx="475488" cy="4754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691" name="TextBox 692"/>
          <p:cNvSpPr txBox="1"/>
          <p:nvPr/>
        </p:nvSpPr>
        <p:spPr>
          <a:xfrm>
            <a:off x="1408176" y="3730752"/>
            <a:ext cx="9034272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333333"/>
                </a:solidFill>
                <a:latin typeface="Calibri"/>
                <a:cs typeface="Calibri"/>
              </a:rPr>
              <a:t>Improve face-embedding match accuracy and API latency based on those results.</a:t>
            </a:r>
          </a:p>
        </p:txBody>
      </p:sp>
      <p:sp>
        <p:nvSpPr>
          <p:cNvPr id="693" name="Shape 694"/>
          <p:cNvSpPr/>
          <p:nvPr/>
        </p:nvSpPr>
        <p:spPr>
          <a:xfrm>
            <a:off x="566928" y="4547616"/>
            <a:ext cx="10149840" cy="67056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695" name="Shape 696"/>
          <p:cNvSpPr/>
          <p:nvPr/>
        </p:nvSpPr>
        <p:spPr>
          <a:xfrm>
            <a:off x="731520" y="4645152"/>
            <a:ext cx="475488" cy="4754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697" name="TextBox 698"/>
          <p:cNvSpPr txBox="1"/>
          <p:nvPr/>
        </p:nvSpPr>
        <p:spPr>
          <a:xfrm>
            <a:off x="1408176" y="4547616"/>
            <a:ext cx="9034272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333333"/>
                </a:solidFill>
                <a:latin typeface="Calibri"/>
                <a:cs typeface="Calibri"/>
              </a:rPr>
              <a:t>Containerise and deploy the full stack to Kubernetes with CI/CD.</a:t>
            </a:r>
          </a:p>
        </p:txBody>
      </p:sp>
      <p:sp>
        <p:nvSpPr>
          <p:cNvPr id="699" name="Shape 700"/>
          <p:cNvSpPr/>
          <p:nvPr/>
        </p:nvSpPr>
        <p:spPr>
          <a:xfrm>
            <a:off x="566928" y="5364480"/>
            <a:ext cx="10149840" cy="67056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701" name="Shape 702"/>
          <p:cNvSpPr/>
          <p:nvPr/>
        </p:nvSpPr>
        <p:spPr>
          <a:xfrm>
            <a:off x="731520" y="5462016"/>
            <a:ext cx="475488" cy="4754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703" name="TextBox 704"/>
          <p:cNvSpPr txBox="1"/>
          <p:nvPr/>
        </p:nvSpPr>
        <p:spPr>
          <a:xfrm>
            <a:off x="1408176" y="5364480"/>
            <a:ext cx="9034272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333333"/>
                </a:solidFill>
                <a:latin typeface="Calibri"/>
                <a:cs typeface="Calibri"/>
              </a:rPr>
              <a:t>Finalise documentation, including the C4 architecture diagrams and README.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Shape 714"/>
          <p:cNvSpPr/>
          <p:nvPr/>
        </p:nvSpPr>
        <p:spPr>
          <a:xfrm>
            <a:off x="3736848" y="221673"/>
            <a:ext cx="4718304" cy="51723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</p:spPr>
        <p:txBody>
          <a:bodyPr wrap="square" lIns="146304" tIns="91440" rIns="146304" bIns="91440" rtlCol="0" anchor="ctr"/>
          <a:lstStyle/>
          <a:p>
            <a:endParaRPr lang="en-US"/>
          </a:p>
        </p:txBody>
      </p:sp>
      <p:sp>
        <p:nvSpPr>
          <p:cNvPr id="715" name="TextBox 716"/>
          <p:cNvSpPr txBox="1"/>
          <p:nvPr/>
        </p:nvSpPr>
        <p:spPr>
          <a:xfrm>
            <a:off x="3736848" y="221673"/>
            <a:ext cx="4718304" cy="517236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References</a:t>
            </a:r>
          </a:p>
        </p:txBody>
      </p:sp>
      <p:sp>
        <p:nvSpPr>
          <p:cNvPr id="711" name="Shape 712"/>
          <p:cNvSpPr/>
          <p:nvPr/>
        </p:nvSpPr>
        <p:spPr>
          <a:xfrm>
            <a:off x="566928" y="1280160"/>
            <a:ext cx="10149840" cy="4754880"/>
          </a:xfrm>
          <a:prstGeom prst="roundRect">
            <a:avLst>
              <a:gd name="adj" fmla="val 9000"/>
            </a:avLst>
          </a:prstGeom>
          <a:solidFill>
            <a:srgbClr val="F6F0F0"/>
          </a:solidFill>
          <a:ln>
            <a:noFill/>
          </a:ln>
        </p:spPr>
        <p:txBody>
          <a:bodyPr wrap="square" lIns="384048" tIns="274320" rIns="384048" bIns="274320" rtlCol="0" anchor="ctr"/>
          <a:lstStyle/>
          <a:p>
            <a:pPr marL="201168" indent="-201168" algn="l">
              <a:lnSpc>
                <a:spcPct val="104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[Add an IEEE / ACM paper on RFID- or QR-based attendance systems]</a:t>
            </a:r>
          </a:p>
          <a:p>
            <a:pPr marL="201168" indent="-201168" algn="l">
              <a:lnSpc>
                <a:spcPct val="104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[Add a paper on face-recognition based attendance systems]</a:t>
            </a:r>
          </a:p>
          <a:p>
            <a:pPr marL="201168" indent="-201168" algn="l">
              <a:lnSpc>
                <a:spcPct val="104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[Add a paper or survey on polyglot persistence and the CAP theorem]</a:t>
            </a:r>
          </a:p>
          <a:p>
            <a:pPr marL="201168" indent="-201168" algn="l">
              <a:lnSpc>
                <a:spcPct val="104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pgvector — official documentation (github.com/pgvector/pgvector)</a:t>
            </a:r>
          </a:p>
          <a:p>
            <a:pPr marL="201168" indent="-201168" algn="l">
              <a:lnSpc>
                <a:spcPct val="104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FastAPI — official documentation (fastapi.tiangolo.com)</a:t>
            </a:r>
          </a:p>
          <a:p>
            <a:pPr marL="201168" indent="-201168" algn="l">
              <a:lnSpc>
                <a:spcPct val="104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[Add KL University's academic regulations / attendance policy document]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2217</Words>
  <Application>Microsoft Office PowerPoint</Application>
  <PresentationFormat>Widescreen</PresentationFormat>
  <Paragraphs>343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Times New Roman</vt:lpstr>
      <vt:lpstr>Office Theme</vt:lpstr>
      <vt:lpstr>     Student Attendance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Penmatsa Gowtham Varma</cp:lastModifiedBy>
  <cp:revision>21</cp:revision>
  <dcterms:created xsi:type="dcterms:W3CDTF">2024-08-29T05:25:00Z</dcterms:created>
  <dcterms:modified xsi:type="dcterms:W3CDTF">2026-09-16T03:26:30Z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